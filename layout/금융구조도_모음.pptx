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3A1"/>
    <a:srgbClr val="FFF2CC"/>
    <a:srgbClr val="08377C"/>
    <a:srgbClr val="002E56"/>
    <a:srgbClr val="2E75B6"/>
    <a:srgbClr val="2B6EAB"/>
    <a:srgbClr val="FFFFFF"/>
    <a:srgbClr val="73A9DB"/>
    <a:srgbClr val="012549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7" autoAdjust="0"/>
    <p:restoredTop sz="94660"/>
  </p:normalViewPr>
  <p:slideViewPr>
    <p:cSldViewPr snapToGrid="0">
      <p:cViewPr>
        <p:scale>
          <a:sx n="100" d="100"/>
          <a:sy n="100" d="100"/>
        </p:scale>
        <p:origin x="142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F452A-3CC9-48B1-BC35-638BE28CD87B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52FABE-03D4-4203-8E32-E4E89E0E2C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049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09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9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371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33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67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51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04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69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24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30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34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3A85F-5A81-4A2C-ADB7-CB9A7B252CB6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75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1775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1.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담보대출 </a:t>
            </a: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Tr. B </a:t>
            </a:r>
            <a:endParaRPr lang="ko-KR" altLang="en-US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9B68A8-F453-4FDE-8E37-B89D75535C31}"/>
              </a:ext>
            </a:extLst>
          </p:cNvPr>
          <p:cNvSpPr/>
          <p:nvPr/>
        </p:nvSpPr>
        <p:spPr>
          <a:xfrm>
            <a:off x="3837499" y="2586727"/>
            <a:ext cx="2243942" cy="3081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4">
            <a:extLst>
              <a:ext uri="{FF2B5EF4-FFF2-40B4-BE49-F238E27FC236}">
                <a16:creationId xmlns:a16="http://schemas.microsoft.com/office/drawing/2014/main" id="{FFC42D46-9E65-49E7-B23D-7D6E43815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554247"/>
              </p:ext>
            </p:extLst>
          </p:nvPr>
        </p:nvGraphicFramePr>
        <p:xfrm>
          <a:off x="3887813" y="2888679"/>
          <a:ext cx="2130374" cy="30524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130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66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Tranche A  [1</a:t>
                      </a: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조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D55A33-9F8E-4A3C-AEF8-75F1D3EDAFF5}"/>
              </a:ext>
            </a:extLst>
          </p:cNvPr>
          <p:cNvSpPr txBox="1"/>
          <p:nvPr/>
        </p:nvSpPr>
        <p:spPr>
          <a:xfrm>
            <a:off x="3824799" y="2612749"/>
            <a:ext cx="22564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 dirty="0">
                <a:latin typeface="피플폰트 Bold"/>
                <a:ea typeface="피플폰트 Bold"/>
              </a:rPr>
              <a:t>담보대출금 </a:t>
            </a:r>
            <a:r>
              <a:rPr lang="en-US" altLang="ko-KR" sz="1000" b="1" u="sng" dirty="0">
                <a:latin typeface="피플폰트 Bold"/>
                <a:ea typeface="피플폰트 Bold"/>
              </a:rPr>
              <a:t>[1</a:t>
            </a:r>
            <a:r>
              <a:rPr lang="ko-KR" altLang="en-US" sz="1000" b="1" u="sng" dirty="0">
                <a:latin typeface="피플폰트 Bold"/>
                <a:ea typeface="피플폰트 Bold"/>
              </a:rPr>
              <a:t>조 </a:t>
            </a:r>
            <a:r>
              <a:rPr lang="en-US" altLang="ko-KR" sz="1000" b="1" u="sng" dirty="0">
                <a:latin typeface="피플폰트 Bold"/>
                <a:ea typeface="피플폰트 Bold"/>
              </a:rPr>
              <a:t>2,700</a:t>
            </a:r>
            <a:r>
              <a:rPr lang="ko-KR" altLang="en-US" sz="1000" b="1" u="sng" dirty="0">
                <a:latin typeface="피플폰트 Bold"/>
                <a:ea typeface="피플폰트 Bold"/>
              </a:rPr>
              <a:t>억원</a:t>
            </a:r>
            <a:r>
              <a:rPr lang="en-US" altLang="ko-KR" sz="1000" b="1" u="sng" dirty="0">
                <a:latin typeface="피플폰트 Bold"/>
                <a:ea typeface="피플폰트 Bold"/>
              </a:rPr>
              <a:t>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CB20E9-CDC5-41CA-A0E0-54EFED05B0DE}"/>
              </a:ext>
            </a:extLst>
          </p:cNvPr>
          <p:cNvSpPr txBox="1"/>
          <p:nvPr/>
        </p:nvSpPr>
        <p:spPr>
          <a:xfrm>
            <a:off x="2143655" y="4695868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담보대출 계약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graphicFrame>
        <p:nvGraphicFramePr>
          <p:cNvPr id="9" name="표 4">
            <a:extLst>
              <a:ext uri="{FF2B5EF4-FFF2-40B4-BE49-F238E27FC236}">
                <a16:creationId xmlns:a16="http://schemas.microsoft.com/office/drawing/2014/main" id="{CC21B3C7-47EE-4614-8571-46854C075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111569"/>
              </p:ext>
            </p:extLst>
          </p:nvPr>
        </p:nvGraphicFramePr>
        <p:xfrm>
          <a:off x="982132" y="2592519"/>
          <a:ext cx="2278108" cy="176490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278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차주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64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㈜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인스파이어인티그레이티드리조트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07BA81DE-8452-49A8-84F8-02D9E0E79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68" y="3256973"/>
            <a:ext cx="2078236" cy="972476"/>
          </a:xfrm>
          <a:prstGeom prst="rect">
            <a:avLst/>
          </a:prstGeom>
        </p:spPr>
      </p:pic>
      <p:graphicFrame>
        <p:nvGraphicFramePr>
          <p:cNvPr id="11" name="표 4">
            <a:extLst>
              <a:ext uri="{FF2B5EF4-FFF2-40B4-BE49-F238E27FC236}">
                <a16:creationId xmlns:a16="http://schemas.microsoft.com/office/drawing/2014/main" id="{48ED9BB5-FC59-46D4-AE0A-7AF03131D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127245"/>
              </p:ext>
            </p:extLst>
          </p:nvPr>
        </p:nvGraphicFramePr>
        <p:xfrm>
          <a:off x="3887813" y="3315438"/>
          <a:ext cx="2130374" cy="187233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130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333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Tranche B [1,700</a:t>
                      </a: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900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표 4">
            <a:extLst>
              <a:ext uri="{FF2B5EF4-FFF2-40B4-BE49-F238E27FC236}">
                <a16:creationId xmlns:a16="http://schemas.microsoft.com/office/drawing/2014/main" id="{56C90AF7-9C88-4887-A292-9034E1D52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006941"/>
              </p:ext>
            </p:extLst>
          </p:nvPr>
        </p:nvGraphicFramePr>
        <p:xfrm>
          <a:off x="3887813" y="5262741"/>
          <a:ext cx="2130374" cy="30524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130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66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Tranche C [1,000</a:t>
                      </a: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표 4">
            <a:extLst>
              <a:ext uri="{FF2B5EF4-FFF2-40B4-BE49-F238E27FC236}">
                <a16:creationId xmlns:a16="http://schemas.microsoft.com/office/drawing/2014/main" id="{8D6EB9B6-7FBA-4FFD-AC5B-9D0A12AA3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061935"/>
              </p:ext>
            </p:extLst>
          </p:nvPr>
        </p:nvGraphicFramePr>
        <p:xfrm>
          <a:off x="3975138" y="3689636"/>
          <a:ext cx="1965884" cy="6088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6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88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기타 </a:t>
                      </a:r>
                      <a:r>
                        <a:rPr lang="en-US" altLang="ko-KR" sz="1000" dirty="0" err="1">
                          <a:solidFill>
                            <a:sysClr val="windowText" lastClr="000000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Tr.B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대주 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AF8C8E92-E185-40FB-BE03-8CB424CF6C2F}"/>
              </a:ext>
            </a:extLst>
          </p:cNvPr>
          <p:cNvCxnSpPr>
            <a:cxnSpLocks/>
          </p:cNvCxnSpPr>
          <p:nvPr/>
        </p:nvCxnSpPr>
        <p:spPr>
          <a:xfrm>
            <a:off x="1473193" y="4357425"/>
            <a:ext cx="2351606" cy="570733"/>
          </a:xfrm>
          <a:prstGeom prst="bentConnector3">
            <a:avLst>
              <a:gd name="adj1" fmla="val -45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71D0886-8BCD-4468-81D6-16ABFDE00C5C}"/>
              </a:ext>
            </a:extLst>
          </p:cNvPr>
          <p:cNvSpPr txBox="1"/>
          <p:nvPr/>
        </p:nvSpPr>
        <p:spPr>
          <a:xfrm>
            <a:off x="1581156" y="4975108"/>
            <a:ext cx="2120350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부동산 담보신탁</a:t>
            </a:r>
            <a:r>
              <a:rPr lang="en-US" altLang="ko-KR" sz="1000" b="1" dirty="0">
                <a:latin typeface="피플폰트 Bold"/>
                <a:ea typeface="피플폰트 Bold"/>
              </a:rPr>
              <a:t> </a:t>
            </a:r>
            <a:r>
              <a:rPr lang="ko-KR" altLang="en-US" sz="1000" b="1" dirty="0">
                <a:latin typeface="피플폰트 Bold"/>
                <a:ea typeface="피플폰트 Bold"/>
              </a:rPr>
              <a:t>공동</a:t>
            </a:r>
            <a:r>
              <a:rPr lang="en-US" altLang="ko-KR" sz="1000" b="1" dirty="0">
                <a:latin typeface="피플폰트 Bold"/>
                <a:ea typeface="피플폰트 Bold"/>
              </a:rPr>
              <a:t> 2</a:t>
            </a:r>
            <a:r>
              <a:rPr lang="ko-KR" altLang="en-US" sz="1000" b="1" dirty="0">
                <a:latin typeface="피플폰트 Bold"/>
                <a:ea typeface="피플폰트 Bold"/>
              </a:rPr>
              <a:t>순위 우선수익권 </a:t>
            </a:r>
            <a:endParaRPr lang="en-US" altLang="ko-KR" sz="1000" b="1" dirty="0">
              <a:latin typeface="피플폰트 Bold"/>
              <a:ea typeface="피플폰트 Bold"/>
            </a:endParaRPr>
          </a:p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매출 금전채권 신탁 </a:t>
            </a:r>
            <a:r>
              <a:rPr lang="en-US" altLang="ko-KR" sz="1000" b="1" dirty="0">
                <a:latin typeface="피플폰트 Bold"/>
                <a:ea typeface="피플폰트 Bold"/>
              </a:rPr>
              <a:t>2</a:t>
            </a:r>
            <a:r>
              <a:rPr lang="ko-KR" altLang="en-US" sz="1000" b="1" dirty="0">
                <a:latin typeface="피플폰트 Bold"/>
                <a:ea typeface="피플폰트 Bold"/>
              </a:rPr>
              <a:t>종 수익권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1759ABD-E3B2-42AE-8633-6241E5BF08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712" t="20503" r="7712" b="20503"/>
          <a:stretch/>
        </p:blipFill>
        <p:spPr>
          <a:xfrm>
            <a:off x="6577894" y="1991202"/>
            <a:ext cx="1878982" cy="716836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A6286DA8-82D4-4B55-AF1A-07D9FEDFDCE7}"/>
              </a:ext>
            </a:extLst>
          </p:cNvPr>
          <p:cNvCxnSpPr>
            <a:cxnSpLocks/>
            <a:stCxn id="16" idx="1"/>
            <a:endCxn id="7" idx="0"/>
          </p:cNvCxnSpPr>
          <p:nvPr/>
        </p:nvCxnSpPr>
        <p:spPr>
          <a:xfrm rot="10800000" flipV="1">
            <a:off x="4953000" y="2349619"/>
            <a:ext cx="1624894" cy="263129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3300E3D-4FE3-4AD6-8F88-0BCBDED3EC1D}"/>
              </a:ext>
            </a:extLst>
          </p:cNvPr>
          <p:cNvSpPr txBox="1"/>
          <p:nvPr/>
        </p:nvSpPr>
        <p:spPr>
          <a:xfrm>
            <a:off x="4450718" y="1978974"/>
            <a:ext cx="1402354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en-US" altLang="ko-KR" sz="1000" b="1" dirty="0" err="1">
                <a:latin typeface="피플폰트 Bold"/>
                <a:ea typeface="피플폰트 Bold"/>
              </a:rPr>
              <a:t>Tr.A</a:t>
            </a:r>
            <a:r>
              <a:rPr lang="en-US" altLang="ko-KR" sz="1000" b="1" dirty="0">
                <a:latin typeface="피플폰트 Bold"/>
                <a:ea typeface="피플폰트 Bold"/>
              </a:rPr>
              <a:t>/B</a:t>
            </a:r>
          </a:p>
          <a:p>
            <a:pPr algn="ctr">
              <a:defRPr/>
            </a:pPr>
            <a:r>
              <a:rPr lang="ko-KR" altLang="en-US" sz="1000" b="1" dirty="0" err="1">
                <a:latin typeface="피플폰트 Bold"/>
                <a:ea typeface="피플폰트 Bold"/>
              </a:rPr>
              <a:t>이자자금보충확약</a:t>
            </a:r>
            <a:endParaRPr lang="en-US" altLang="ko-KR" sz="1000" b="1" dirty="0">
              <a:latin typeface="피플폰트 Bold"/>
              <a:ea typeface="피플폰트 Bold"/>
            </a:endParaRPr>
          </a:p>
          <a:p>
            <a:pPr algn="ctr">
              <a:defRPr/>
            </a:pPr>
            <a:r>
              <a:rPr lang="en-US" altLang="ko-KR" sz="1000" b="1" dirty="0">
                <a:latin typeface="피플폰트 Bold"/>
                <a:ea typeface="피플폰트 Bold"/>
              </a:rPr>
              <a:t>(</a:t>
            </a:r>
            <a:r>
              <a:rPr lang="ko-KR" altLang="en-US" sz="1000" b="1" dirty="0">
                <a:latin typeface="피플폰트 Bold"/>
                <a:ea typeface="피플폰트 Bold"/>
              </a:rPr>
              <a:t>연체이자제외</a:t>
            </a:r>
            <a:r>
              <a:rPr lang="en-US" altLang="ko-KR" sz="1000" b="1" dirty="0">
                <a:latin typeface="피플폰트 Bold"/>
                <a:ea typeface="피플폰트 Bold"/>
              </a:rPr>
              <a:t>)</a:t>
            </a: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EDE6DA44-F041-4D72-BF92-9A02C29417E4}"/>
              </a:ext>
            </a:extLst>
          </p:cNvPr>
          <p:cNvCxnSpPr>
            <a:cxnSpLocks/>
            <a:stCxn id="16" idx="0"/>
            <a:endCxn id="9" idx="0"/>
          </p:cNvCxnSpPr>
          <p:nvPr/>
        </p:nvCxnSpPr>
        <p:spPr>
          <a:xfrm rot="16200000" flipH="1" flipV="1">
            <a:off x="4518627" y="-406240"/>
            <a:ext cx="601317" cy="5396199"/>
          </a:xfrm>
          <a:prstGeom prst="bentConnector3">
            <a:avLst>
              <a:gd name="adj1" fmla="val -38017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6D94721-1698-4119-87D1-97B5B328D4C0}"/>
              </a:ext>
            </a:extLst>
          </p:cNvPr>
          <p:cNvSpPr txBox="1"/>
          <p:nvPr/>
        </p:nvSpPr>
        <p:spPr>
          <a:xfrm>
            <a:off x="5675740" y="1978974"/>
            <a:ext cx="870751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en-US" altLang="ko-KR" sz="1000" b="1" dirty="0" err="1">
                <a:latin typeface="피플폰트 Bold"/>
                <a:ea typeface="피플폰트 Bold"/>
              </a:rPr>
              <a:t>Tr.C</a:t>
            </a:r>
            <a:endParaRPr lang="en-US" altLang="ko-KR" sz="1000" b="1" dirty="0">
              <a:latin typeface="피플폰트 Bold"/>
              <a:ea typeface="피플폰트 Bold"/>
            </a:endParaRPr>
          </a:p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원리금 자금보충</a:t>
            </a:r>
            <a:endParaRPr lang="en-US" altLang="ko-KR" sz="1000" b="1" dirty="0">
              <a:latin typeface="피플폰트 Bold"/>
              <a:ea typeface="피플폰트 Bold"/>
            </a:endParaRPr>
          </a:p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및 채무인수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A13AC7-65BA-44C5-8F1C-E265EBBF4493}"/>
              </a:ext>
            </a:extLst>
          </p:cNvPr>
          <p:cNvSpPr txBox="1"/>
          <p:nvPr/>
        </p:nvSpPr>
        <p:spPr>
          <a:xfrm>
            <a:off x="4494648" y="1478635"/>
            <a:ext cx="154258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>
                <a:latin typeface="피플폰트 Bold"/>
                <a:ea typeface="피플폰트 Bold"/>
              </a:rPr>
              <a:t>전환사채 투자</a:t>
            </a:r>
            <a:r>
              <a:rPr lang="en-US" altLang="ko-KR" sz="1000" b="1" dirty="0">
                <a:latin typeface="피플폰트 Bold"/>
                <a:ea typeface="피플폰트 Bold"/>
              </a:rPr>
              <a:t>1,000</a:t>
            </a:r>
            <a:r>
              <a:rPr lang="ko-KR" altLang="en-US" sz="1000" b="1" dirty="0">
                <a:latin typeface="피플폰트 Bold"/>
                <a:ea typeface="피플폰트 Bold"/>
              </a:rPr>
              <a:t>억원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F00AB7A-A489-456D-9381-CB4A77C7D8F2}"/>
              </a:ext>
            </a:extLst>
          </p:cNvPr>
          <p:cNvSpPr/>
          <p:nvPr/>
        </p:nvSpPr>
        <p:spPr>
          <a:xfrm>
            <a:off x="3929218" y="4373400"/>
            <a:ext cx="4678173" cy="743427"/>
          </a:xfrm>
          <a:prstGeom prst="rect">
            <a:avLst/>
          </a:prstGeom>
          <a:solidFill>
            <a:schemeClr val="bg1">
              <a:lumMod val="95000"/>
              <a:alpha val="74000"/>
            </a:scheme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897332-9E36-49CC-8BCB-D286A2F04EF4}"/>
              </a:ext>
            </a:extLst>
          </p:cNvPr>
          <p:cNvSpPr txBox="1"/>
          <p:nvPr/>
        </p:nvSpPr>
        <p:spPr>
          <a:xfrm>
            <a:off x="6484582" y="2697194"/>
            <a:ext cx="23090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700" b="1" dirty="0">
                <a:latin typeface="피플폰트 Light" panose="020B0600000101010101" charset="-127"/>
                <a:ea typeface="피플폰트 Light" panose="020B0600000101010101" charset="-127"/>
              </a:rPr>
              <a:t>※ </a:t>
            </a:r>
            <a:r>
              <a:rPr lang="ko-KR" altLang="en-US" sz="700" b="1" dirty="0">
                <a:latin typeface="피플폰트 Light" panose="020B0600000101010101" charset="-127"/>
                <a:ea typeface="피플폰트 Light" panose="020B0600000101010101" charset="-127"/>
              </a:rPr>
              <a:t>본 건 자산 </a:t>
            </a:r>
            <a:r>
              <a:rPr lang="en-US" altLang="ko-KR" sz="700" b="1" dirty="0">
                <a:latin typeface="피플폰트 Light" panose="020B0600000101010101" charset="-127"/>
                <a:ea typeface="피플폰트 Light" panose="020B0600000101010101" charset="-127"/>
              </a:rPr>
              <a:t>2</a:t>
            </a:r>
            <a:r>
              <a:rPr lang="ko-KR" altLang="en-US" sz="700" b="1" dirty="0">
                <a:latin typeface="피플폰트 Light" panose="020B0600000101010101" charset="-127"/>
                <a:ea typeface="피플폰트 Light" panose="020B0600000101010101" charset="-127"/>
              </a:rPr>
              <a:t>순위 우선매수권 보유 </a:t>
            </a:r>
            <a:r>
              <a:rPr lang="en-US" altLang="ko-KR" sz="700" b="1" dirty="0">
                <a:latin typeface="피플폰트 Light" panose="020B0600000101010101" charset="-127"/>
                <a:ea typeface="피플폰트 Light" panose="020B0600000101010101" charset="-127"/>
              </a:rPr>
              <a:t>(1.7</a:t>
            </a:r>
            <a:r>
              <a:rPr lang="ko-KR" altLang="en-US" sz="700" b="1" dirty="0">
                <a:latin typeface="피플폰트 Light" panose="020B0600000101010101" charset="-127"/>
                <a:ea typeface="피플폰트 Light" panose="020B0600000101010101" charset="-127"/>
              </a:rPr>
              <a:t>조 </a:t>
            </a:r>
            <a:r>
              <a:rPr lang="en-US" altLang="ko-KR" sz="700" b="1" dirty="0">
                <a:latin typeface="피플폰트 Light" panose="020B0600000101010101" charset="-127"/>
                <a:ea typeface="피플폰트 Light" panose="020B0600000101010101" charset="-127"/>
              </a:rPr>
              <a:t>+ @)</a:t>
            </a:r>
          </a:p>
        </p:txBody>
      </p:sp>
      <p:graphicFrame>
        <p:nvGraphicFramePr>
          <p:cNvPr id="24" name="표 4">
            <a:extLst>
              <a:ext uri="{FF2B5EF4-FFF2-40B4-BE49-F238E27FC236}">
                <a16:creationId xmlns:a16="http://schemas.microsoft.com/office/drawing/2014/main" id="{CBB7E19D-C1CD-444B-AE2E-D323B903C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680528"/>
              </p:ext>
            </p:extLst>
          </p:nvPr>
        </p:nvGraphicFramePr>
        <p:xfrm>
          <a:off x="3975138" y="4463779"/>
          <a:ext cx="1960205" cy="54392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60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450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신규 유동화 </a:t>
                      </a:r>
                      <a:r>
                        <a:rPr lang="en-US" altLang="ko-KR" sz="8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SPC</a:t>
                      </a:r>
                      <a:endParaRPr lang="ko-KR" altLang="en-US" sz="8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1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T.B.D. [*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표 4">
            <a:extLst>
              <a:ext uri="{FF2B5EF4-FFF2-40B4-BE49-F238E27FC236}">
                <a16:creationId xmlns:a16="http://schemas.microsoft.com/office/drawing/2014/main" id="{6FED3EBD-9C69-4007-AE4F-9159C8DE3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106259"/>
              </p:ext>
            </p:extLst>
          </p:nvPr>
        </p:nvGraphicFramePr>
        <p:xfrm>
          <a:off x="7285899" y="4463778"/>
          <a:ext cx="1217353" cy="54391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217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627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사채권자</a:t>
                      </a: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T.B.D. [*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8605082C-33FC-4600-8ED3-4F669572CE08}"/>
              </a:ext>
            </a:extLst>
          </p:cNvPr>
          <p:cNvCxnSpPr>
            <a:cxnSpLocks/>
            <a:stCxn id="25" idx="1"/>
            <a:endCxn id="24" idx="3"/>
          </p:cNvCxnSpPr>
          <p:nvPr/>
        </p:nvCxnSpPr>
        <p:spPr>
          <a:xfrm flipH="1">
            <a:off x="5935343" y="4735737"/>
            <a:ext cx="1350556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CAAA7A8-F555-487F-BFD3-9E22D16ABA03}"/>
              </a:ext>
            </a:extLst>
          </p:cNvPr>
          <p:cNvSpPr txBox="1"/>
          <p:nvPr/>
        </p:nvSpPr>
        <p:spPr>
          <a:xfrm>
            <a:off x="4382146" y="144574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679FEE-E741-41B0-97DE-D7D54174704C}"/>
              </a:ext>
            </a:extLst>
          </p:cNvPr>
          <p:cNvSpPr txBox="1"/>
          <p:nvPr/>
        </p:nvSpPr>
        <p:spPr>
          <a:xfrm>
            <a:off x="4395172" y="197897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C66135-D83C-49FF-A517-0F74F86985EC}"/>
              </a:ext>
            </a:extLst>
          </p:cNvPr>
          <p:cNvSpPr txBox="1"/>
          <p:nvPr/>
        </p:nvSpPr>
        <p:spPr>
          <a:xfrm>
            <a:off x="5727563" y="178175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856E36-AF1B-42E5-9C94-68CECCB3529B}"/>
              </a:ext>
            </a:extLst>
          </p:cNvPr>
          <p:cNvSpPr txBox="1"/>
          <p:nvPr/>
        </p:nvSpPr>
        <p:spPr>
          <a:xfrm>
            <a:off x="2036999" y="466575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628D4E-4209-4EF7-832F-E47D638A23A8}"/>
              </a:ext>
            </a:extLst>
          </p:cNvPr>
          <p:cNvSpPr txBox="1"/>
          <p:nvPr/>
        </p:nvSpPr>
        <p:spPr>
          <a:xfrm>
            <a:off x="1376663" y="496117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CE1BDD-3DF7-4D68-A266-62B96931B75E}"/>
              </a:ext>
            </a:extLst>
          </p:cNvPr>
          <p:cNvSpPr txBox="1"/>
          <p:nvPr/>
        </p:nvSpPr>
        <p:spPr>
          <a:xfrm>
            <a:off x="647301" y="261168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E09051-1127-4372-9974-94FE7AE7FEE8}"/>
              </a:ext>
            </a:extLst>
          </p:cNvPr>
          <p:cNvSpPr txBox="1"/>
          <p:nvPr/>
        </p:nvSpPr>
        <p:spPr>
          <a:xfrm>
            <a:off x="3964025" y="258197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868AB5-61C2-4722-A0A1-FBE4D9545199}"/>
              </a:ext>
            </a:extLst>
          </p:cNvPr>
          <p:cNvSpPr txBox="1"/>
          <p:nvPr/>
        </p:nvSpPr>
        <p:spPr>
          <a:xfrm>
            <a:off x="3652590" y="290592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BC0533-D8A9-4DF4-9D83-52A93C9C074C}"/>
              </a:ext>
            </a:extLst>
          </p:cNvPr>
          <p:cNvSpPr txBox="1"/>
          <p:nvPr/>
        </p:nvSpPr>
        <p:spPr>
          <a:xfrm>
            <a:off x="3652590" y="336197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05C246-72C2-4A89-AE01-D1E22B6CD925}"/>
              </a:ext>
            </a:extLst>
          </p:cNvPr>
          <p:cNvSpPr txBox="1"/>
          <p:nvPr/>
        </p:nvSpPr>
        <p:spPr>
          <a:xfrm>
            <a:off x="3649543" y="388901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14EA2A-5E15-4AA1-8B43-74BA788FD2A7}"/>
              </a:ext>
            </a:extLst>
          </p:cNvPr>
          <p:cNvSpPr txBox="1"/>
          <p:nvPr/>
        </p:nvSpPr>
        <p:spPr>
          <a:xfrm>
            <a:off x="3647435" y="531649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DB730D5-26EA-4389-B50E-B6A8ED188DC7}"/>
              </a:ext>
            </a:extLst>
          </p:cNvPr>
          <p:cNvSpPr txBox="1"/>
          <p:nvPr/>
        </p:nvSpPr>
        <p:spPr>
          <a:xfrm>
            <a:off x="4246885" y="4458738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AEC788-A949-4CBD-A7D3-4FFF164D591B}"/>
              </a:ext>
            </a:extLst>
          </p:cNvPr>
          <p:cNvSpPr txBox="1"/>
          <p:nvPr/>
        </p:nvSpPr>
        <p:spPr>
          <a:xfrm>
            <a:off x="7458042" y="4446807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320040-9359-4639-B962-E34FD201C0FF}"/>
              </a:ext>
            </a:extLst>
          </p:cNvPr>
          <p:cNvSpPr txBox="1"/>
          <p:nvPr/>
        </p:nvSpPr>
        <p:spPr>
          <a:xfrm>
            <a:off x="578991" y="2919401"/>
            <a:ext cx="482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EFD56D-769B-42D8-B4F9-634CB1D583EB}"/>
              </a:ext>
            </a:extLst>
          </p:cNvPr>
          <p:cNvSpPr txBox="1"/>
          <p:nvPr/>
        </p:nvSpPr>
        <p:spPr>
          <a:xfrm>
            <a:off x="4148118" y="4728688"/>
            <a:ext cx="4667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CC70D1-67E0-4F75-A079-42A8A3699C51}"/>
              </a:ext>
            </a:extLst>
          </p:cNvPr>
          <p:cNvSpPr txBox="1"/>
          <p:nvPr/>
        </p:nvSpPr>
        <p:spPr>
          <a:xfrm>
            <a:off x="7050347" y="4706595"/>
            <a:ext cx="467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791971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3113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2.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담보대출 후순위</a:t>
            </a: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리파이낸싱</a:t>
            </a: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endParaRPr lang="ko-KR" altLang="en-US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5C7C6D0-FFB2-4F9D-AD01-CF85F7BCB0E4}"/>
              </a:ext>
            </a:extLst>
          </p:cNvPr>
          <p:cNvSpPr/>
          <p:nvPr/>
        </p:nvSpPr>
        <p:spPr>
          <a:xfrm>
            <a:off x="4387456" y="1937003"/>
            <a:ext cx="2257548" cy="37860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4681A5-BB82-446E-8E14-E7E54F9A1C97}"/>
              </a:ext>
            </a:extLst>
          </p:cNvPr>
          <p:cNvSpPr txBox="1"/>
          <p:nvPr/>
        </p:nvSpPr>
        <p:spPr>
          <a:xfrm>
            <a:off x="2098123" y="2895910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담보신탁계약 체결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graphicFrame>
        <p:nvGraphicFramePr>
          <p:cNvPr id="54" name="표 4">
            <a:extLst>
              <a:ext uri="{FF2B5EF4-FFF2-40B4-BE49-F238E27FC236}">
                <a16:creationId xmlns:a16="http://schemas.microsoft.com/office/drawing/2014/main" id="{9A215995-578F-4E30-ADFE-A416271B6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731733"/>
              </p:ext>
            </p:extLst>
          </p:nvPr>
        </p:nvGraphicFramePr>
        <p:xfrm>
          <a:off x="4633237" y="2238954"/>
          <a:ext cx="1765984" cy="119004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765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56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Tranche A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15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대신저축은행 외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18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개 저축은행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컨소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 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[1,200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E260F07F-2A05-4B7D-9780-88B83E0BC10A}"/>
              </a:ext>
            </a:extLst>
          </p:cNvPr>
          <p:cNvCxnSpPr>
            <a:cxnSpLocks/>
            <a:stCxn id="61" idx="2"/>
            <a:endCxn id="62" idx="0"/>
          </p:cNvCxnSpPr>
          <p:nvPr/>
        </p:nvCxnSpPr>
        <p:spPr>
          <a:xfrm>
            <a:off x="2115743" y="2552030"/>
            <a:ext cx="0" cy="90648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D0738C5-8F48-4278-BC80-B106C5D74BBD}"/>
              </a:ext>
            </a:extLst>
          </p:cNvPr>
          <p:cNvSpPr txBox="1"/>
          <p:nvPr/>
        </p:nvSpPr>
        <p:spPr>
          <a:xfrm>
            <a:off x="4531341" y="1963024"/>
            <a:ext cx="19421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 dirty="0">
                <a:latin typeface="피플폰트 Bold"/>
                <a:ea typeface="피플폰트 Bold"/>
              </a:rPr>
              <a:t>담보대출금 </a:t>
            </a:r>
            <a:r>
              <a:rPr lang="en-US" altLang="ko-KR" sz="1000" b="1" u="sng" dirty="0">
                <a:latin typeface="피플폰트 Bold"/>
                <a:ea typeface="피플폰트 Bold"/>
              </a:rPr>
              <a:t>[1,450</a:t>
            </a:r>
            <a:r>
              <a:rPr lang="ko-KR" altLang="en-US" sz="1000" b="1" u="sng" dirty="0">
                <a:latin typeface="피플폰트 Bold"/>
                <a:ea typeface="피플폰트 Bold"/>
              </a:rPr>
              <a:t>억원</a:t>
            </a:r>
            <a:r>
              <a:rPr lang="en-US" altLang="ko-KR" sz="1000" b="1" u="sng" dirty="0">
                <a:latin typeface="피플폰트 Bold"/>
                <a:ea typeface="피플폰트 Bold"/>
              </a:rPr>
              <a:t>]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2530799A-B646-431A-8243-911CA5F8D869}"/>
              </a:ext>
            </a:extLst>
          </p:cNvPr>
          <p:cNvCxnSpPr>
            <a:cxnSpLocks/>
          </p:cNvCxnSpPr>
          <p:nvPr/>
        </p:nvCxnSpPr>
        <p:spPr>
          <a:xfrm flipV="1">
            <a:off x="3194509" y="3754115"/>
            <a:ext cx="1138291" cy="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814251C7-4326-409B-844C-35B48D79C64B}"/>
              </a:ext>
            </a:extLst>
          </p:cNvPr>
          <p:cNvCxnSpPr>
            <a:cxnSpLocks/>
          </p:cNvCxnSpPr>
          <p:nvPr/>
        </p:nvCxnSpPr>
        <p:spPr>
          <a:xfrm>
            <a:off x="2160293" y="4109599"/>
            <a:ext cx="0" cy="90648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271D5F4-612E-4B8A-B42D-08441DDE8047}"/>
              </a:ext>
            </a:extLst>
          </p:cNvPr>
          <p:cNvSpPr txBox="1"/>
          <p:nvPr/>
        </p:nvSpPr>
        <p:spPr>
          <a:xfrm>
            <a:off x="2132793" y="4434714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연대보증계약 체결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4AE19FED-C7B8-4B1B-860F-61962604479D}"/>
              </a:ext>
            </a:extLst>
          </p:cNvPr>
          <p:cNvCxnSpPr>
            <a:cxnSpLocks/>
          </p:cNvCxnSpPr>
          <p:nvPr/>
        </p:nvCxnSpPr>
        <p:spPr>
          <a:xfrm>
            <a:off x="2036657" y="4109599"/>
            <a:ext cx="0" cy="90648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aphicFrame>
        <p:nvGraphicFramePr>
          <p:cNvPr id="61" name="표 4">
            <a:extLst>
              <a:ext uri="{FF2B5EF4-FFF2-40B4-BE49-F238E27FC236}">
                <a16:creationId xmlns:a16="http://schemas.microsoft.com/office/drawing/2014/main" id="{301C611E-CC7A-4FCF-9077-8E662FB11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345869"/>
              </p:ext>
            </p:extLst>
          </p:nvPr>
        </p:nvGraphicFramePr>
        <p:xfrm>
          <a:off x="1135234" y="1907355"/>
          <a:ext cx="1961019" cy="64467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61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786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부동산신탁사</a:t>
                      </a:r>
                    </a:p>
                  </a:txBody>
                  <a:tcPr marL="153932" marR="153932" marT="76966" marB="76966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519"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신한자산신탁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153932" marR="153932" marT="76966" marB="76966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2" name="표 4">
            <a:extLst>
              <a:ext uri="{FF2B5EF4-FFF2-40B4-BE49-F238E27FC236}">
                <a16:creationId xmlns:a16="http://schemas.microsoft.com/office/drawing/2014/main" id="{93E15ED3-BB59-4E56-85C9-181BC5417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322996"/>
              </p:ext>
            </p:extLst>
          </p:nvPr>
        </p:nvGraphicFramePr>
        <p:xfrm>
          <a:off x="1121633" y="3458519"/>
          <a:ext cx="1988220" cy="651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88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13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사업시행자 및 차주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0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㈜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에스와이신도시개발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3" name="표 4">
            <a:extLst>
              <a:ext uri="{FF2B5EF4-FFF2-40B4-BE49-F238E27FC236}">
                <a16:creationId xmlns:a16="http://schemas.microsoft.com/office/drawing/2014/main" id="{EE1AD39B-DB81-45FA-9005-FAECA1B83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697914"/>
              </p:ext>
            </p:extLst>
          </p:nvPr>
        </p:nvGraphicFramePr>
        <p:xfrm>
          <a:off x="1104013" y="4877588"/>
          <a:ext cx="1988220" cy="651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88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13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연대보증사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0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㈜신영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686EDC5B-AD0B-4E30-8884-5C4230441696}"/>
              </a:ext>
            </a:extLst>
          </p:cNvPr>
          <p:cNvSpPr txBox="1"/>
          <p:nvPr/>
        </p:nvSpPr>
        <p:spPr>
          <a:xfrm>
            <a:off x="970584" y="4434714"/>
            <a:ext cx="1053610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출자 및 후순위 대여</a:t>
            </a:r>
            <a:endParaRPr lang="en-US" altLang="ko-KR" sz="1000" b="1" dirty="0">
              <a:latin typeface="피플폰트 Bold"/>
              <a:ea typeface="피플폰트 Bold"/>
            </a:endParaRPr>
          </a:p>
          <a:p>
            <a:pPr algn="ctr">
              <a:defRPr/>
            </a:pPr>
            <a:r>
              <a:rPr lang="en-US" altLang="ko-KR" sz="1000" b="1" dirty="0">
                <a:latin typeface="피플폰트 Bold"/>
                <a:ea typeface="피플폰트 Bold"/>
              </a:rPr>
              <a:t>(100%)</a:t>
            </a:r>
          </a:p>
        </p:txBody>
      </p:sp>
      <p:graphicFrame>
        <p:nvGraphicFramePr>
          <p:cNvPr id="65" name="표 4">
            <a:extLst>
              <a:ext uri="{FF2B5EF4-FFF2-40B4-BE49-F238E27FC236}">
                <a16:creationId xmlns:a16="http://schemas.microsoft.com/office/drawing/2014/main" id="{49467802-3480-408D-88C4-1C07665EA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992146"/>
              </p:ext>
            </p:extLst>
          </p:nvPr>
        </p:nvGraphicFramePr>
        <p:xfrm>
          <a:off x="4634916" y="3543352"/>
          <a:ext cx="1765984" cy="189229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765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269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Tranche B (</a:t>
                      </a: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본건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)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960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기타 대주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220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총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250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6" name="TextBox 65">
            <a:extLst>
              <a:ext uri="{FF2B5EF4-FFF2-40B4-BE49-F238E27FC236}">
                <a16:creationId xmlns:a16="http://schemas.microsoft.com/office/drawing/2014/main" id="{6C340F63-8189-4FB4-A63B-E0FE78383E36}"/>
              </a:ext>
            </a:extLst>
          </p:cNvPr>
          <p:cNvSpPr txBox="1"/>
          <p:nvPr/>
        </p:nvSpPr>
        <p:spPr>
          <a:xfrm>
            <a:off x="3242789" y="3491407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담보대출 계약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62F8BDF-6BBB-402C-B50F-6D4FEF31F34D}"/>
              </a:ext>
            </a:extLst>
          </p:cNvPr>
          <p:cNvSpPr/>
          <p:nvPr/>
        </p:nvSpPr>
        <p:spPr>
          <a:xfrm>
            <a:off x="4694283" y="4257485"/>
            <a:ext cx="4654687" cy="771124"/>
          </a:xfrm>
          <a:prstGeom prst="roundRect">
            <a:avLst/>
          </a:prstGeom>
          <a:solidFill>
            <a:schemeClr val="bg1">
              <a:lumMod val="95000"/>
              <a:alpha val="74000"/>
            </a:scheme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aphicFrame>
        <p:nvGraphicFramePr>
          <p:cNvPr id="68" name="표 4">
            <a:extLst>
              <a:ext uri="{FF2B5EF4-FFF2-40B4-BE49-F238E27FC236}">
                <a16:creationId xmlns:a16="http://schemas.microsoft.com/office/drawing/2014/main" id="{7030B083-6D0E-41DC-A888-DF516D044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614733"/>
              </p:ext>
            </p:extLst>
          </p:nvPr>
        </p:nvGraphicFramePr>
        <p:xfrm>
          <a:off x="7556584" y="4353391"/>
          <a:ext cx="1556970" cy="53344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3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투자자</a:t>
                      </a:r>
                      <a:r>
                        <a:rPr lang="en-US" altLang="ko-KR" sz="8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/</a:t>
                      </a:r>
                      <a:r>
                        <a:rPr lang="ko-KR" altLang="en-US" sz="8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사채권자</a:t>
                      </a:r>
                    </a:p>
                  </a:txBody>
                  <a:tcPr marL="153690" marR="153690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1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T.B.D. [60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</a:p>
                  </a:txBody>
                  <a:tcPr marL="153690" marR="153690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9" name="표 4">
            <a:extLst>
              <a:ext uri="{FF2B5EF4-FFF2-40B4-BE49-F238E27FC236}">
                <a16:creationId xmlns:a16="http://schemas.microsoft.com/office/drawing/2014/main" id="{638CC8A3-57D3-4E2B-9F84-83B6146D9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14086"/>
              </p:ext>
            </p:extLst>
          </p:nvPr>
        </p:nvGraphicFramePr>
        <p:xfrm>
          <a:off x="4775284" y="4353391"/>
          <a:ext cx="1556970" cy="53344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3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신규 유동화 </a:t>
                      </a:r>
                      <a:r>
                        <a:rPr lang="en-US" altLang="ko-KR" sz="8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SPC</a:t>
                      </a:r>
                      <a:endParaRPr lang="ko-KR" altLang="en-US" sz="8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3690" marR="153690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1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T.B.D. [60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</a:p>
                  </a:txBody>
                  <a:tcPr marL="153690" marR="153690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4474A926-1565-43F1-9535-D5042EB7C762}"/>
              </a:ext>
            </a:extLst>
          </p:cNvPr>
          <p:cNvCxnSpPr>
            <a:cxnSpLocks/>
            <a:stCxn id="69" idx="3"/>
            <a:endCxn id="68" idx="1"/>
          </p:cNvCxnSpPr>
          <p:nvPr/>
        </p:nvCxnSpPr>
        <p:spPr>
          <a:xfrm>
            <a:off x="6332254" y="4620115"/>
            <a:ext cx="122433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C6B09C30-3C67-4DB2-BC1C-B0883A227FB2}"/>
              </a:ext>
            </a:extLst>
          </p:cNvPr>
          <p:cNvSpPr txBox="1"/>
          <p:nvPr/>
        </p:nvSpPr>
        <p:spPr>
          <a:xfrm>
            <a:off x="6439321" y="4351640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사모사채발행</a:t>
            </a:r>
            <a:r>
              <a:rPr lang="en-US" altLang="ko-KR" sz="1000" b="1" dirty="0">
                <a:latin typeface="피플폰트 Bold"/>
                <a:ea typeface="피플폰트 Bold"/>
              </a:rPr>
              <a:t>/</a:t>
            </a:r>
            <a:r>
              <a:rPr lang="ko-KR" altLang="en-US" sz="1000" b="1" dirty="0">
                <a:latin typeface="피플폰트 Bold"/>
                <a:ea typeface="피플폰트 Bold"/>
              </a:rPr>
              <a:t>인수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A584C54-E05F-441F-A6B5-149CF7C835EF}"/>
              </a:ext>
            </a:extLst>
          </p:cNvPr>
          <p:cNvCxnSpPr>
            <a:cxnSpLocks/>
          </p:cNvCxnSpPr>
          <p:nvPr/>
        </p:nvCxnSpPr>
        <p:spPr>
          <a:xfrm flipV="1">
            <a:off x="3194509" y="5369857"/>
            <a:ext cx="1138291" cy="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D3A7191C-9C2E-4EF8-B166-610A403F9C84}"/>
              </a:ext>
            </a:extLst>
          </p:cNvPr>
          <p:cNvSpPr txBox="1"/>
          <p:nvPr/>
        </p:nvSpPr>
        <p:spPr>
          <a:xfrm>
            <a:off x="3242789" y="5107149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연대보증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31D9C2E-9A6A-4F9E-918A-1CD514D2FF5E}"/>
              </a:ext>
            </a:extLst>
          </p:cNvPr>
          <p:cNvSpPr txBox="1"/>
          <p:nvPr/>
        </p:nvSpPr>
        <p:spPr>
          <a:xfrm>
            <a:off x="798232" y="193224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605A8B1-3DD0-4DE7-9E18-6281C6CB91D5}"/>
              </a:ext>
            </a:extLst>
          </p:cNvPr>
          <p:cNvSpPr txBox="1"/>
          <p:nvPr/>
        </p:nvSpPr>
        <p:spPr>
          <a:xfrm>
            <a:off x="657799" y="2224979"/>
            <a:ext cx="54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5431B13-9D06-424F-91DC-8C593D404054}"/>
              </a:ext>
            </a:extLst>
          </p:cNvPr>
          <p:cNvSpPr txBox="1"/>
          <p:nvPr/>
        </p:nvSpPr>
        <p:spPr>
          <a:xfrm>
            <a:off x="800362" y="347711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869E70B-149B-4D39-8756-F309D5C63594}"/>
              </a:ext>
            </a:extLst>
          </p:cNvPr>
          <p:cNvSpPr txBox="1"/>
          <p:nvPr/>
        </p:nvSpPr>
        <p:spPr>
          <a:xfrm>
            <a:off x="697161" y="3798095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28EA946-A99B-4590-8C87-5A915CD3C7E4}"/>
              </a:ext>
            </a:extLst>
          </p:cNvPr>
          <p:cNvSpPr txBox="1"/>
          <p:nvPr/>
        </p:nvSpPr>
        <p:spPr>
          <a:xfrm>
            <a:off x="697160" y="5297146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A754F04-6C40-410A-BAB3-2BDFF0AF57A1}"/>
              </a:ext>
            </a:extLst>
          </p:cNvPr>
          <p:cNvSpPr txBox="1"/>
          <p:nvPr/>
        </p:nvSpPr>
        <p:spPr>
          <a:xfrm>
            <a:off x="721029" y="4850275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02EB842-A518-4969-99DF-BDC9FC684D41}"/>
              </a:ext>
            </a:extLst>
          </p:cNvPr>
          <p:cNvSpPr txBox="1"/>
          <p:nvPr/>
        </p:nvSpPr>
        <p:spPr>
          <a:xfrm>
            <a:off x="4426820" y="1951571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5CF8E12-6BF2-441B-BE54-2EDE65E800D7}"/>
              </a:ext>
            </a:extLst>
          </p:cNvPr>
          <p:cNvSpPr txBox="1"/>
          <p:nvPr/>
        </p:nvSpPr>
        <p:spPr>
          <a:xfrm>
            <a:off x="4241334" y="2230170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88D53CB-7EA0-4BD7-93BD-3536EA46A16C}"/>
              </a:ext>
            </a:extLst>
          </p:cNvPr>
          <p:cNvSpPr txBox="1"/>
          <p:nvPr/>
        </p:nvSpPr>
        <p:spPr>
          <a:xfrm>
            <a:off x="4208200" y="2601617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DB25DE-EC74-4D74-9F4E-5D2FB3BCD055}"/>
              </a:ext>
            </a:extLst>
          </p:cNvPr>
          <p:cNvSpPr txBox="1"/>
          <p:nvPr/>
        </p:nvSpPr>
        <p:spPr>
          <a:xfrm>
            <a:off x="4249979" y="3574335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84FE1F9-F52C-4AF4-B0D8-E81D00AA0A7D}"/>
              </a:ext>
            </a:extLst>
          </p:cNvPr>
          <p:cNvSpPr txBox="1"/>
          <p:nvPr/>
        </p:nvSpPr>
        <p:spPr>
          <a:xfrm>
            <a:off x="4258083" y="3962826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97CCC3C-0E6B-4D89-9873-9B7A4C39EFC0}"/>
              </a:ext>
            </a:extLst>
          </p:cNvPr>
          <p:cNvSpPr txBox="1"/>
          <p:nvPr/>
        </p:nvSpPr>
        <p:spPr>
          <a:xfrm>
            <a:off x="4717809" y="4381535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65E1EC4-EFF3-4D51-9DFF-D3992F33BB9B}"/>
              </a:ext>
            </a:extLst>
          </p:cNvPr>
          <p:cNvSpPr txBox="1"/>
          <p:nvPr/>
        </p:nvSpPr>
        <p:spPr>
          <a:xfrm>
            <a:off x="4699448" y="4575762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C8FE1BA-4822-4DDC-96E9-BF0BD077740F}"/>
              </a:ext>
            </a:extLst>
          </p:cNvPr>
          <p:cNvSpPr txBox="1"/>
          <p:nvPr/>
        </p:nvSpPr>
        <p:spPr>
          <a:xfrm>
            <a:off x="7553877" y="4339845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endParaRPr lang="en-US" altLang="ko-KR" sz="12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E8AB14D-9B01-411F-ABD3-F5E9CB9B0804}"/>
              </a:ext>
            </a:extLst>
          </p:cNvPr>
          <p:cNvSpPr txBox="1"/>
          <p:nvPr/>
        </p:nvSpPr>
        <p:spPr>
          <a:xfrm>
            <a:off x="7333578" y="4609840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r>
              <a:rPr lang="en-US" altLang="ko-KR" sz="1200" dirty="0"/>
              <a:t>-1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5628548-4395-410C-8039-94D2CD505E42}"/>
              </a:ext>
            </a:extLst>
          </p:cNvPr>
          <p:cNvSpPr txBox="1"/>
          <p:nvPr/>
        </p:nvSpPr>
        <p:spPr>
          <a:xfrm>
            <a:off x="3031565" y="288957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D046A37-65DA-4E0F-94E4-E8764663317D}"/>
              </a:ext>
            </a:extLst>
          </p:cNvPr>
          <p:cNvSpPr txBox="1"/>
          <p:nvPr/>
        </p:nvSpPr>
        <p:spPr>
          <a:xfrm>
            <a:off x="767680" y="433984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DA7AAAF-C51B-48F2-96E4-C08CB5DB18C7}"/>
              </a:ext>
            </a:extLst>
          </p:cNvPr>
          <p:cNvSpPr txBox="1"/>
          <p:nvPr/>
        </p:nvSpPr>
        <p:spPr>
          <a:xfrm>
            <a:off x="3024564" y="4409906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5DAEFB9-62D3-481A-AF16-3A919B897E9C}"/>
              </a:ext>
            </a:extLst>
          </p:cNvPr>
          <p:cNvSpPr txBox="1"/>
          <p:nvPr/>
        </p:nvSpPr>
        <p:spPr>
          <a:xfrm>
            <a:off x="3555987" y="3297336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C30FA4A-BF49-4A1A-AD0D-7022C60FDEFE}"/>
              </a:ext>
            </a:extLst>
          </p:cNvPr>
          <p:cNvSpPr txBox="1"/>
          <p:nvPr/>
        </p:nvSpPr>
        <p:spPr>
          <a:xfrm>
            <a:off x="3529687" y="4879849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F209E7A-33AF-4EB9-A5D5-8AB124DC1503}"/>
              </a:ext>
            </a:extLst>
          </p:cNvPr>
          <p:cNvSpPr txBox="1"/>
          <p:nvPr/>
        </p:nvSpPr>
        <p:spPr>
          <a:xfrm>
            <a:off x="6678324" y="4132907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</p:spTree>
    <p:extLst>
      <p:ext uri="{BB962C8B-B14F-4D97-AF65-F5344CB8AC3E}">
        <p14:creationId xmlns:p14="http://schemas.microsoft.com/office/powerpoint/2010/main" val="3465544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3.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토지담보대출</a:t>
            </a:r>
          </a:p>
        </p:txBody>
      </p:sp>
      <p:graphicFrame>
        <p:nvGraphicFramePr>
          <p:cNvPr id="49" name="표 4">
            <a:extLst>
              <a:ext uri="{FF2B5EF4-FFF2-40B4-BE49-F238E27FC236}">
                <a16:creationId xmlns:a16="http://schemas.microsoft.com/office/drawing/2014/main" id="{F9E5D608-C36B-485A-95CB-49701C37F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235374"/>
              </p:ext>
            </p:extLst>
          </p:nvPr>
        </p:nvGraphicFramePr>
        <p:xfrm>
          <a:off x="3064159" y="3102045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267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차주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루시드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㈜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DA361C31-F98A-4558-839F-231D2B8AA449}"/>
              </a:ext>
            </a:extLst>
          </p:cNvPr>
          <p:cNvCxnSpPr>
            <a:cxnSpLocks/>
            <a:stCxn id="115" idx="0"/>
            <a:endCxn id="49" idx="2"/>
          </p:cNvCxnSpPr>
          <p:nvPr/>
        </p:nvCxnSpPr>
        <p:spPr>
          <a:xfrm flipV="1">
            <a:off x="3882321" y="3732897"/>
            <a:ext cx="0" cy="8783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51" name="텍스트 개체 틀 2">
            <a:extLst>
              <a:ext uri="{FF2B5EF4-FFF2-40B4-BE49-F238E27FC236}">
                <a16:creationId xmlns:a16="http://schemas.microsoft.com/office/drawing/2014/main" id="{520B2E20-7897-4A6F-BEAD-C82F0AAC7A02}"/>
              </a:ext>
            </a:extLst>
          </p:cNvPr>
          <p:cNvSpPr txBox="1">
            <a:spLocks/>
          </p:cNvSpPr>
          <p:nvPr/>
        </p:nvSpPr>
        <p:spPr>
          <a:xfrm>
            <a:off x="4969152" y="4962092"/>
            <a:ext cx="1241128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터미널 부지 물상보증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50BF84F-F899-4697-A582-226293554D83}"/>
              </a:ext>
            </a:extLst>
          </p:cNvPr>
          <p:cNvSpPr/>
          <p:nvPr/>
        </p:nvSpPr>
        <p:spPr>
          <a:xfrm>
            <a:off x="5601651" y="2304864"/>
            <a:ext cx="1754592" cy="21593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78954D7-5E59-4A02-8854-70416A522B72}"/>
              </a:ext>
            </a:extLst>
          </p:cNvPr>
          <p:cNvSpPr txBox="1"/>
          <p:nvPr/>
        </p:nvSpPr>
        <p:spPr>
          <a:xfrm>
            <a:off x="5657335" y="2298170"/>
            <a:ext cx="16432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>
                <a:latin typeface="피플폰트 Bold"/>
                <a:ea typeface="피플폰트 Bold"/>
              </a:rPr>
              <a:t>본건 대주단</a:t>
            </a:r>
            <a:endParaRPr lang="en-US" altLang="ko-KR" sz="1000" b="1" u="sng" dirty="0">
              <a:latin typeface="피플폰트 Bold"/>
              <a:ea typeface="피플폰트 Bold"/>
            </a:endParaRPr>
          </a:p>
        </p:txBody>
      </p:sp>
      <p:graphicFrame>
        <p:nvGraphicFramePr>
          <p:cNvPr id="89" name="표 4">
            <a:extLst>
              <a:ext uri="{FF2B5EF4-FFF2-40B4-BE49-F238E27FC236}">
                <a16:creationId xmlns:a16="http://schemas.microsoft.com/office/drawing/2014/main" id="{30A652FD-F590-4367-B072-E2780DCBD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264226"/>
              </p:ext>
            </p:extLst>
          </p:nvPr>
        </p:nvGraphicFramePr>
        <p:xfrm>
          <a:off x="5703225" y="2551085"/>
          <a:ext cx="1551445" cy="3764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2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Tr.A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200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84F00574-9124-4289-A2C7-3DF64408C4BF}"/>
              </a:ext>
            </a:extLst>
          </p:cNvPr>
          <p:cNvCxnSpPr>
            <a:cxnSpLocks/>
            <a:stCxn id="49" idx="1"/>
            <a:endCxn id="114" idx="3"/>
          </p:cNvCxnSpPr>
          <p:nvPr/>
        </p:nvCxnSpPr>
        <p:spPr>
          <a:xfrm flipH="1">
            <a:off x="2095024" y="3417471"/>
            <a:ext cx="96913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100" name="텍스트 개체 틀 2">
            <a:extLst>
              <a:ext uri="{FF2B5EF4-FFF2-40B4-BE49-F238E27FC236}">
                <a16:creationId xmlns:a16="http://schemas.microsoft.com/office/drawing/2014/main" id="{35FB1523-DADB-4C10-9B39-B144BAB6B572}"/>
              </a:ext>
            </a:extLst>
          </p:cNvPr>
          <p:cNvSpPr txBox="1">
            <a:spLocks/>
          </p:cNvSpPr>
          <p:nvPr/>
        </p:nvSpPr>
        <p:spPr>
          <a:xfrm>
            <a:off x="2048190" y="3216809"/>
            <a:ext cx="1060169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관리형 토지신탁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계약 체결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101" name="텍스트 개체 틀 2">
            <a:extLst>
              <a:ext uri="{FF2B5EF4-FFF2-40B4-BE49-F238E27FC236}">
                <a16:creationId xmlns:a16="http://schemas.microsoft.com/office/drawing/2014/main" id="{3B474E59-CD0F-4F9D-B6F5-F9D12BCBEBE4}"/>
              </a:ext>
            </a:extLst>
          </p:cNvPr>
          <p:cNvSpPr txBox="1">
            <a:spLocks/>
          </p:cNvSpPr>
          <p:nvPr/>
        </p:nvSpPr>
        <p:spPr>
          <a:xfrm>
            <a:off x="3160240" y="4260082"/>
            <a:ext cx="681671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공동사업약정 체결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AA06E683-0ACC-44EA-BBE7-412FE0F247F5}"/>
              </a:ext>
            </a:extLst>
          </p:cNvPr>
          <p:cNvCxnSpPr>
            <a:cxnSpLocks/>
          </p:cNvCxnSpPr>
          <p:nvPr/>
        </p:nvCxnSpPr>
        <p:spPr>
          <a:xfrm flipH="1">
            <a:off x="4752922" y="3298865"/>
            <a:ext cx="762354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103" name="텍스트 개체 틀 2">
            <a:extLst>
              <a:ext uri="{FF2B5EF4-FFF2-40B4-BE49-F238E27FC236}">
                <a16:creationId xmlns:a16="http://schemas.microsoft.com/office/drawing/2014/main" id="{BD39CF80-D68A-43F7-8788-230FAE35EE39}"/>
              </a:ext>
            </a:extLst>
          </p:cNvPr>
          <p:cNvSpPr txBox="1">
            <a:spLocks/>
          </p:cNvSpPr>
          <p:nvPr/>
        </p:nvSpPr>
        <p:spPr>
          <a:xfrm>
            <a:off x="4578625" y="3106359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대출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C60B29C7-5E7E-46B3-AF01-E83C6C66029A}"/>
              </a:ext>
            </a:extLst>
          </p:cNvPr>
          <p:cNvCxnSpPr>
            <a:cxnSpLocks/>
          </p:cNvCxnSpPr>
          <p:nvPr/>
        </p:nvCxnSpPr>
        <p:spPr>
          <a:xfrm flipH="1">
            <a:off x="4752922" y="3535022"/>
            <a:ext cx="762354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sp>
        <p:nvSpPr>
          <p:cNvPr id="105" name="텍스트 개체 틀 2">
            <a:extLst>
              <a:ext uri="{FF2B5EF4-FFF2-40B4-BE49-F238E27FC236}">
                <a16:creationId xmlns:a16="http://schemas.microsoft.com/office/drawing/2014/main" id="{66443E2F-3598-4AA3-8E54-979F086F1AE6}"/>
              </a:ext>
            </a:extLst>
          </p:cNvPr>
          <p:cNvSpPr txBox="1">
            <a:spLocks/>
          </p:cNvSpPr>
          <p:nvPr/>
        </p:nvSpPr>
        <p:spPr>
          <a:xfrm>
            <a:off x="4607804" y="3550328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이자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106" name="텍스트 개체 틀 2">
            <a:extLst>
              <a:ext uri="{FF2B5EF4-FFF2-40B4-BE49-F238E27FC236}">
                <a16:creationId xmlns:a16="http://schemas.microsoft.com/office/drawing/2014/main" id="{533D91E5-D103-4B19-B121-74C29CDF3D3F}"/>
              </a:ext>
            </a:extLst>
          </p:cNvPr>
          <p:cNvSpPr txBox="1">
            <a:spLocks/>
          </p:cNvSpPr>
          <p:nvPr/>
        </p:nvSpPr>
        <p:spPr>
          <a:xfrm>
            <a:off x="3122975" y="1813102"/>
            <a:ext cx="1707415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순위별 우선수익권 제공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2672D738-ECD2-4B03-A548-80BE163A6A91}"/>
              </a:ext>
            </a:extLst>
          </p:cNvPr>
          <p:cNvCxnSpPr>
            <a:cxnSpLocks/>
            <a:stCxn id="85" idx="0"/>
            <a:endCxn id="114" idx="0"/>
          </p:cNvCxnSpPr>
          <p:nvPr/>
        </p:nvCxnSpPr>
        <p:spPr>
          <a:xfrm rot="16200000" flipH="1" flipV="1">
            <a:off x="3475967" y="99063"/>
            <a:ext cx="803875" cy="5202087"/>
          </a:xfrm>
          <a:prstGeom prst="bentConnector3">
            <a:avLst>
              <a:gd name="adj1" fmla="val -28437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aphicFrame>
        <p:nvGraphicFramePr>
          <p:cNvPr id="108" name="표 4">
            <a:extLst>
              <a:ext uri="{FF2B5EF4-FFF2-40B4-BE49-F238E27FC236}">
                <a16:creationId xmlns:a16="http://schemas.microsoft.com/office/drawing/2014/main" id="{8F0E428D-79B0-4C31-B383-EF8F5F320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653424"/>
              </p:ext>
            </p:extLst>
          </p:nvPr>
        </p:nvGraphicFramePr>
        <p:xfrm>
          <a:off x="5703225" y="3459713"/>
          <a:ext cx="1551445" cy="91728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50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Tr.B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 (</a:t>
                      </a: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기초자산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, 50</a:t>
                      </a: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)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4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E56CD28A-4B47-49E0-9867-F707049EDCE6}"/>
              </a:ext>
            </a:extLst>
          </p:cNvPr>
          <p:cNvSpPr/>
          <p:nvPr/>
        </p:nvSpPr>
        <p:spPr>
          <a:xfrm>
            <a:off x="5703226" y="3788240"/>
            <a:ext cx="3875969" cy="531609"/>
          </a:xfrm>
          <a:prstGeom prst="rect">
            <a:avLst/>
          </a:prstGeom>
          <a:solidFill>
            <a:schemeClr val="bg1">
              <a:lumMod val="95000"/>
              <a:alpha val="74000"/>
            </a:scheme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aphicFrame>
        <p:nvGraphicFramePr>
          <p:cNvPr id="110" name="표 4">
            <a:extLst>
              <a:ext uri="{FF2B5EF4-FFF2-40B4-BE49-F238E27FC236}">
                <a16:creationId xmlns:a16="http://schemas.microsoft.com/office/drawing/2014/main" id="{56625751-EBE5-48CC-94BF-FB64C99A8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402015"/>
              </p:ext>
            </p:extLst>
          </p:nvPr>
        </p:nvGraphicFramePr>
        <p:xfrm>
          <a:off x="5774713" y="3828031"/>
          <a:ext cx="1427520" cy="4192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42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64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신규 유동화 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SPC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64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T.B.D.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1" name="표 4">
            <a:extLst>
              <a:ext uri="{FF2B5EF4-FFF2-40B4-BE49-F238E27FC236}">
                <a16:creationId xmlns:a16="http://schemas.microsoft.com/office/drawing/2014/main" id="{190DAD12-8661-4DD1-978A-5D2229C62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891779"/>
              </p:ext>
            </p:extLst>
          </p:nvPr>
        </p:nvGraphicFramePr>
        <p:xfrm>
          <a:off x="8173068" y="3825836"/>
          <a:ext cx="1248892" cy="42149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248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8588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lt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사채권자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90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T.B.D.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15AF996B-5FFB-41C7-97DE-46B2CC2A6A52}"/>
              </a:ext>
            </a:extLst>
          </p:cNvPr>
          <p:cNvCxnSpPr>
            <a:cxnSpLocks/>
            <a:stCxn id="111" idx="1"/>
            <a:endCxn id="110" idx="3"/>
          </p:cNvCxnSpPr>
          <p:nvPr/>
        </p:nvCxnSpPr>
        <p:spPr>
          <a:xfrm flipH="1">
            <a:off x="7202233" y="4036582"/>
            <a:ext cx="970835" cy="109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113" name="텍스트 개체 틀 2">
            <a:extLst>
              <a:ext uri="{FF2B5EF4-FFF2-40B4-BE49-F238E27FC236}">
                <a16:creationId xmlns:a16="http://schemas.microsoft.com/office/drawing/2014/main" id="{DAA46F3F-4F2A-456E-86BF-ED728361AE78}"/>
              </a:ext>
            </a:extLst>
          </p:cNvPr>
          <p:cNvSpPr txBox="1">
            <a:spLocks/>
          </p:cNvSpPr>
          <p:nvPr/>
        </p:nvSpPr>
        <p:spPr>
          <a:xfrm>
            <a:off x="7198511" y="3838757"/>
            <a:ext cx="1060169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 발행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/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인수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aphicFrame>
        <p:nvGraphicFramePr>
          <p:cNvPr id="114" name="표 4">
            <a:extLst>
              <a:ext uri="{FF2B5EF4-FFF2-40B4-BE49-F238E27FC236}">
                <a16:creationId xmlns:a16="http://schemas.microsoft.com/office/drawing/2014/main" id="{15FF9526-53D0-4B78-9913-00AB0C9F0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570675"/>
              </p:ext>
            </p:extLst>
          </p:nvPr>
        </p:nvGraphicFramePr>
        <p:xfrm>
          <a:off x="458699" y="3102045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92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신탁사</a:t>
                      </a:r>
                      <a:endParaRPr lang="ko-KR" altLang="en-US" sz="11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한국투자부동산신탁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5" name="표 4">
            <a:extLst>
              <a:ext uri="{FF2B5EF4-FFF2-40B4-BE49-F238E27FC236}">
                <a16:creationId xmlns:a16="http://schemas.microsoft.com/office/drawing/2014/main" id="{4A12D679-DB95-4D70-8F4F-2C527052C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737099"/>
              </p:ext>
            </p:extLst>
          </p:nvPr>
        </p:nvGraphicFramePr>
        <p:xfrm>
          <a:off x="3064159" y="4611264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92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시공사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롯데건설㈜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16" name="연결선: 꺾임 115">
            <a:extLst>
              <a:ext uri="{FF2B5EF4-FFF2-40B4-BE49-F238E27FC236}">
                <a16:creationId xmlns:a16="http://schemas.microsoft.com/office/drawing/2014/main" id="{B2138003-DA19-4BB0-A497-3117C731482D}"/>
              </a:ext>
            </a:extLst>
          </p:cNvPr>
          <p:cNvCxnSpPr>
            <a:cxnSpLocks/>
            <a:stCxn id="84" idx="2"/>
            <a:endCxn id="115" idx="3"/>
          </p:cNvCxnSpPr>
          <p:nvPr/>
        </p:nvCxnSpPr>
        <p:spPr>
          <a:xfrm rot="5400000">
            <a:off x="5358456" y="3806199"/>
            <a:ext cx="462520" cy="1778463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aphicFrame>
        <p:nvGraphicFramePr>
          <p:cNvPr id="117" name="표 4">
            <a:extLst>
              <a:ext uri="{FF2B5EF4-FFF2-40B4-BE49-F238E27FC236}">
                <a16:creationId xmlns:a16="http://schemas.microsoft.com/office/drawing/2014/main" id="{50A39137-8BB1-4F3E-B6F4-26C54B78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422496"/>
              </p:ext>
            </p:extLst>
          </p:nvPr>
        </p:nvGraphicFramePr>
        <p:xfrm>
          <a:off x="5703225" y="2995060"/>
          <a:ext cx="1551445" cy="3764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2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Tr.B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150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8" name="TextBox 117">
            <a:extLst>
              <a:ext uri="{FF2B5EF4-FFF2-40B4-BE49-F238E27FC236}">
                <a16:creationId xmlns:a16="http://schemas.microsoft.com/office/drawing/2014/main" id="{28CF50A5-0F75-4BF6-937B-5C70207E8E11}"/>
              </a:ext>
            </a:extLst>
          </p:cNvPr>
          <p:cNvSpPr txBox="1"/>
          <p:nvPr/>
        </p:nvSpPr>
        <p:spPr>
          <a:xfrm>
            <a:off x="202289" y="311830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0FF651B-B66B-4AF8-B156-5FF083009C67}"/>
              </a:ext>
            </a:extLst>
          </p:cNvPr>
          <p:cNvSpPr txBox="1"/>
          <p:nvPr/>
        </p:nvSpPr>
        <p:spPr>
          <a:xfrm>
            <a:off x="79915" y="3472855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D298371-DD09-4F74-B517-899D10746D82}"/>
              </a:ext>
            </a:extLst>
          </p:cNvPr>
          <p:cNvSpPr txBox="1"/>
          <p:nvPr/>
        </p:nvSpPr>
        <p:spPr>
          <a:xfrm>
            <a:off x="3785700" y="285656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227B1F1-CEB8-4195-A2D0-9D70A05BBAD6}"/>
              </a:ext>
            </a:extLst>
          </p:cNvPr>
          <p:cNvSpPr txBox="1"/>
          <p:nvPr/>
        </p:nvSpPr>
        <p:spPr>
          <a:xfrm>
            <a:off x="2996191" y="3484725"/>
            <a:ext cx="529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D4D8877-D677-4EAB-9CE1-F4C3FECA441B}"/>
              </a:ext>
            </a:extLst>
          </p:cNvPr>
          <p:cNvSpPr txBox="1"/>
          <p:nvPr/>
        </p:nvSpPr>
        <p:spPr>
          <a:xfrm>
            <a:off x="2812022" y="4621628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27E2CA1-8E21-4A60-819D-48899A946D0F}"/>
              </a:ext>
            </a:extLst>
          </p:cNvPr>
          <p:cNvSpPr txBox="1"/>
          <p:nvPr/>
        </p:nvSpPr>
        <p:spPr>
          <a:xfrm>
            <a:off x="2597545" y="4965880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2515353-453C-4317-AC42-F96F5A939DC7}"/>
              </a:ext>
            </a:extLst>
          </p:cNvPr>
          <p:cNvSpPr txBox="1"/>
          <p:nvPr/>
        </p:nvSpPr>
        <p:spPr>
          <a:xfrm>
            <a:off x="6762758" y="227849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D21F0D4-531E-4FE7-91F6-0DEC543E3A44}"/>
              </a:ext>
            </a:extLst>
          </p:cNvPr>
          <p:cNvSpPr txBox="1"/>
          <p:nvPr/>
        </p:nvSpPr>
        <p:spPr>
          <a:xfrm>
            <a:off x="7300144" y="247158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6C57B0D-DA9B-4A4E-AA60-7D227F6BCE94}"/>
              </a:ext>
            </a:extLst>
          </p:cNvPr>
          <p:cNvSpPr txBox="1"/>
          <p:nvPr/>
        </p:nvSpPr>
        <p:spPr>
          <a:xfrm>
            <a:off x="7198511" y="2692297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EA56D8A-ACFF-4C0C-8F12-C2EC101A2E0D}"/>
              </a:ext>
            </a:extLst>
          </p:cNvPr>
          <p:cNvSpPr txBox="1"/>
          <p:nvPr/>
        </p:nvSpPr>
        <p:spPr>
          <a:xfrm>
            <a:off x="7301259" y="292758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ECF53F6-817E-49FC-9130-B86AB62EF6AC}"/>
              </a:ext>
            </a:extLst>
          </p:cNvPr>
          <p:cNvSpPr txBox="1"/>
          <p:nvPr/>
        </p:nvSpPr>
        <p:spPr>
          <a:xfrm>
            <a:off x="7216093" y="3148296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4B2243C-36C8-4589-A8B8-74B883AC925D}"/>
              </a:ext>
            </a:extLst>
          </p:cNvPr>
          <p:cNvSpPr txBox="1"/>
          <p:nvPr/>
        </p:nvSpPr>
        <p:spPr>
          <a:xfrm>
            <a:off x="7265486" y="347581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B2D9C12-D626-427C-BE4F-6F4780F20F1D}"/>
              </a:ext>
            </a:extLst>
          </p:cNvPr>
          <p:cNvSpPr txBox="1"/>
          <p:nvPr/>
        </p:nvSpPr>
        <p:spPr>
          <a:xfrm>
            <a:off x="5375679" y="3838757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BDE15F9-BE6E-4663-BCA3-7341B8C27579}"/>
              </a:ext>
            </a:extLst>
          </p:cNvPr>
          <p:cNvSpPr txBox="1"/>
          <p:nvPr/>
        </p:nvSpPr>
        <p:spPr>
          <a:xfrm>
            <a:off x="5205889" y="4036582"/>
            <a:ext cx="495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6769D34-51E7-4D7F-803A-04C7A9876ED8}"/>
              </a:ext>
            </a:extLst>
          </p:cNvPr>
          <p:cNvSpPr txBox="1"/>
          <p:nvPr/>
        </p:nvSpPr>
        <p:spPr>
          <a:xfrm>
            <a:off x="9398383" y="376886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EC7F2F3-7EA9-4058-9AD1-0D642B86DA5A}"/>
              </a:ext>
            </a:extLst>
          </p:cNvPr>
          <p:cNvSpPr txBox="1"/>
          <p:nvPr/>
        </p:nvSpPr>
        <p:spPr>
          <a:xfrm>
            <a:off x="9348799" y="3936485"/>
            <a:ext cx="526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D4E02E4-FD8C-45F3-ACF7-B5469B5B2EA4}"/>
              </a:ext>
            </a:extLst>
          </p:cNvPr>
          <p:cNvSpPr txBox="1"/>
          <p:nvPr/>
        </p:nvSpPr>
        <p:spPr>
          <a:xfrm>
            <a:off x="3122975" y="177947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55A1DF9-39D1-40E1-8A90-424976916AA3}"/>
              </a:ext>
            </a:extLst>
          </p:cNvPr>
          <p:cNvSpPr txBox="1"/>
          <p:nvPr/>
        </p:nvSpPr>
        <p:spPr>
          <a:xfrm>
            <a:off x="2415835" y="304597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5F0C958-920F-44AE-BDC7-6C3E279E510D}"/>
              </a:ext>
            </a:extLst>
          </p:cNvPr>
          <p:cNvSpPr txBox="1"/>
          <p:nvPr/>
        </p:nvSpPr>
        <p:spPr>
          <a:xfrm>
            <a:off x="3386379" y="396367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99C8417-B621-4088-9CB8-5C56CE760C43}"/>
              </a:ext>
            </a:extLst>
          </p:cNvPr>
          <p:cNvSpPr txBox="1"/>
          <p:nvPr/>
        </p:nvSpPr>
        <p:spPr>
          <a:xfrm>
            <a:off x="4949645" y="287115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E9D0B0A-0E19-4B89-8BD6-A502352D9636}"/>
              </a:ext>
            </a:extLst>
          </p:cNvPr>
          <p:cNvSpPr txBox="1"/>
          <p:nvPr/>
        </p:nvSpPr>
        <p:spPr>
          <a:xfrm>
            <a:off x="4996230" y="335903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C94FC5B-1280-4A4D-B8F3-EB9C2ED0741E}"/>
              </a:ext>
            </a:extLst>
          </p:cNvPr>
          <p:cNvSpPr txBox="1"/>
          <p:nvPr/>
        </p:nvSpPr>
        <p:spPr>
          <a:xfrm>
            <a:off x="4794808" y="493900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</p:spTree>
    <p:extLst>
      <p:ext uri="{BB962C8B-B14F-4D97-AF65-F5344CB8AC3E}">
        <p14:creationId xmlns:p14="http://schemas.microsoft.com/office/powerpoint/2010/main" val="3538772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2408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4.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토지담보대출</a:t>
            </a: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중순위</a:t>
            </a: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endParaRPr lang="ko-KR" altLang="en-US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aphicFrame>
        <p:nvGraphicFramePr>
          <p:cNvPr id="57" name="표 4">
            <a:extLst>
              <a:ext uri="{FF2B5EF4-FFF2-40B4-BE49-F238E27FC236}">
                <a16:creationId xmlns:a16="http://schemas.microsoft.com/office/drawing/2014/main" id="{43FBA3EE-9FD5-4F2D-ADEC-EB7AEEA62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239668"/>
              </p:ext>
            </p:extLst>
          </p:nvPr>
        </p:nvGraphicFramePr>
        <p:xfrm>
          <a:off x="3128717" y="3190822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267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차주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㈜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루시드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BEFE5BAE-2EEA-433E-9C87-8DD112118666}"/>
              </a:ext>
            </a:extLst>
          </p:cNvPr>
          <p:cNvCxnSpPr>
            <a:cxnSpLocks/>
            <a:stCxn id="79" idx="0"/>
            <a:endCxn id="57" idx="2"/>
          </p:cNvCxnSpPr>
          <p:nvPr/>
        </p:nvCxnSpPr>
        <p:spPr>
          <a:xfrm flipV="1">
            <a:off x="3946879" y="3821674"/>
            <a:ext cx="0" cy="8783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59" name="텍스트 개체 틀 2">
            <a:extLst>
              <a:ext uri="{FF2B5EF4-FFF2-40B4-BE49-F238E27FC236}">
                <a16:creationId xmlns:a16="http://schemas.microsoft.com/office/drawing/2014/main" id="{06165491-641F-4346-B7F0-8F08D5AC6C66}"/>
              </a:ext>
            </a:extLst>
          </p:cNvPr>
          <p:cNvSpPr txBox="1">
            <a:spLocks/>
          </p:cNvSpPr>
          <p:nvPr/>
        </p:nvSpPr>
        <p:spPr>
          <a:xfrm>
            <a:off x="4881377" y="5021333"/>
            <a:ext cx="1241128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터미널 부지 물상보증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BE25B5F-527E-4C74-9E98-8D5E6CF39FAC}"/>
              </a:ext>
            </a:extLst>
          </p:cNvPr>
          <p:cNvSpPr/>
          <p:nvPr/>
        </p:nvSpPr>
        <p:spPr>
          <a:xfrm>
            <a:off x="5666209" y="2393641"/>
            <a:ext cx="1754592" cy="21593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117501-6473-46CB-BA2F-C9F432D8B2EF}"/>
              </a:ext>
            </a:extLst>
          </p:cNvPr>
          <p:cNvSpPr txBox="1"/>
          <p:nvPr/>
        </p:nvSpPr>
        <p:spPr>
          <a:xfrm>
            <a:off x="5721893" y="2386947"/>
            <a:ext cx="16432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>
                <a:latin typeface="피플폰트 Bold"/>
                <a:ea typeface="피플폰트 Bold"/>
              </a:rPr>
              <a:t>본건 대주단</a:t>
            </a:r>
            <a:endParaRPr lang="en-US" altLang="ko-KR" sz="1000" b="1" u="sng" dirty="0">
              <a:latin typeface="피플폰트 Bold"/>
              <a:ea typeface="피플폰트 Bold"/>
            </a:endParaRPr>
          </a:p>
        </p:txBody>
      </p:sp>
      <p:graphicFrame>
        <p:nvGraphicFramePr>
          <p:cNvPr id="62" name="표 4">
            <a:extLst>
              <a:ext uri="{FF2B5EF4-FFF2-40B4-BE49-F238E27FC236}">
                <a16:creationId xmlns:a16="http://schemas.microsoft.com/office/drawing/2014/main" id="{69DA6496-F690-4A85-B083-E63F213BA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645233"/>
              </p:ext>
            </p:extLst>
          </p:nvPr>
        </p:nvGraphicFramePr>
        <p:xfrm>
          <a:off x="5767783" y="2639862"/>
          <a:ext cx="1551445" cy="3764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2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Tr.A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200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AA0ECCC2-A1F7-4DB3-AA5A-CB472773A7C1}"/>
              </a:ext>
            </a:extLst>
          </p:cNvPr>
          <p:cNvCxnSpPr>
            <a:cxnSpLocks/>
            <a:stCxn id="57" idx="1"/>
            <a:endCxn id="78" idx="3"/>
          </p:cNvCxnSpPr>
          <p:nvPr/>
        </p:nvCxnSpPr>
        <p:spPr>
          <a:xfrm flipH="1">
            <a:off x="2159582" y="3506248"/>
            <a:ext cx="96913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7938C37D-2C53-4A24-A36C-5B8C382E50D7}"/>
              </a:ext>
            </a:extLst>
          </p:cNvPr>
          <p:cNvCxnSpPr>
            <a:cxnSpLocks/>
          </p:cNvCxnSpPr>
          <p:nvPr/>
        </p:nvCxnSpPr>
        <p:spPr>
          <a:xfrm flipH="1">
            <a:off x="4817480" y="3387642"/>
            <a:ext cx="762354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DE616690-1A41-4B7E-B6C1-AEB2165C1E66}"/>
              </a:ext>
            </a:extLst>
          </p:cNvPr>
          <p:cNvCxnSpPr>
            <a:cxnSpLocks/>
          </p:cNvCxnSpPr>
          <p:nvPr/>
        </p:nvCxnSpPr>
        <p:spPr>
          <a:xfrm flipH="1">
            <a:off x="4817480" y="3623799"/>
            <a:ext cx="762354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sp>
        <p:nvSpPr>
          <p:cNvPr id="70" name="텍스트 개체 틀 2">
            <a:extLst>
              <a:ext uri="{FF2B5EF4-FFF2-40B4-BE49-F238E27FC236}">
                <a16:creationId xmlns:a16="http://schemas.microsoft.com/office/drawing/2014/main" id="{096EFA79-D7CE-4677-B679-E898A9D26E78}"/>
              </a:ext>
            </a:extLst>
          </p:cNvPr>
          <p:cNvSpPr txBox="1">
            <a:spLocks/>
          </p:cNvSpPr>
          <p:nvPr/>
        </p:nvSpPr>
        <p:spPr>
          <a:xfrm>
            <a:off x="3187533" y="1901879"/>
            <a:ext cx="1707415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순위별 우선수익권 제공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629FF2FE-44F6-43A2-A4FF-ABF7B826A140}"/>
              </a:ext>
            </a:extLst>
          </p:cNvPr>
          <p:cNvCxnSpPr>
            <a:cxnSpLocks/>
            <a:stCxn id="61" idx="0"/>
            <a:endCxn id="78" idx="0"/>
          </p:cNvCxnSpPr>
          <p:nvPr/>
        </p:nvCxnSpPr>
        <p:spPr>
          <a:xfrm rot="16200000" flipH="1" flipV="1">
            <a:off x="3540525" y="187840"/>
            <a:ext cx="803875" cy="5202087"/>
          </a:xfrm>
          <a:prstGeom prst="bentConnector3">
            <a:avLst>
              <a:gd name="adj1" fmla="val -28437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aphicFrame>
        <p:nvGraphicFramePr>
          <p:cNvPr id="72" name="표 4">
            <a:extLst>
              <a:ext uri="{FF2B5EF4-FFF2-40B4-BE49-F238E27FC236}">
                <a16:creationId xmlns:a16="http://schemas.microsoft.com/office/drawing/2014/main" id="{45A51349-9EC4-4601-95C5-DDD7CF0A8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746599"/>
              </p:ext>
            </p:extLst>
          </p:nvPr>
        </p:nvGraphicFramePr>
        <p:xfrm>
          <a:off x="5767783" y="3127996"/>
          <a:ext cx="1551445" cy="91728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50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Tr.B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 (</a:t>
                      </a: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기초자산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, 150</a:t>
                      </a: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)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4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3" name="직사각형 72">
            <a:extLst>
              <a:ext uri="{FF2B5EF4-FFF2-40B4-BE49-F238E27FC236}">
                <a16:creationId xmlns:a16="http://schemas.microsoft.com/office/drawing/2014/main" id="{F81182DF-E7A0-40FC-B2A3-46F07D42390C}"/>
              </a:ext>
            </a:extLst>
          </p:cNvPr>
          <p:cNvSpPr/>
          <p:nvPr/>
        </p:nvSpPr>
        <p:spPr>
          <a:xfrm>
            <a:off x="5767784" y="3456523"/>
            <a:ext cx="3875969" cy="531609"/>
          </a:xfrm>
          <a:prstGeom prst="rect">
            <a:avLst/>
          </a:prstGeom>
          <a:solidFill>
            <a:schemeClr val="bg1">
              <a:lumMod val="95000"/>
              <a:alpha val="74000"/>
            </a:scheme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aphicFrame>
        <p:nvGraphicFramePr>
          <p:cNvPr id="74" name="표 4">
            <a:extLst>
              <a:ext uri="{FF2B5EF4-FFF2-40B4-BE49-F238E27FC236}">
                <a16:creationId xmlns:a16="http://schemas.microsoft.com/office/drawing/2014/main" id="{FE447773-F9FF-48AA-955C-AFC579B3B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23949"/>
              </p:ext>
            </p:extLst>
          </p:nvPr>
        </p:nvGraphicFramePr>
        <p:xfrm>
          <a:off x="5839271" y="3496314"/>
          <a:ext cx="1427520" cy="4192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42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64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신규 유동화 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SPC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64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T.B.D.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표 4">
            <a:extLst>
              <a:ext uri="{FF2B5EF4-FFF2-40B4-BE49-F238E27FC236}">
                <a16:creationId xmlns:a16="http://schemas.microsoft.com/office/drawing/2014/main" id="{339235E7-ECF4-4F2B-A546-A4BD0D972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553740"/>
              </p:ext>
            </p:extLst>
          </p:nvPr>
        </p:nvGraphicFramePr>
        <p:xfrm>
          <a:off x="8237626" y="3494119"/>
          <a:ext cx="1248892" cy="42149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248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8588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lt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사채권자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90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T.B.D.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99BE3311-F800-4DC7-9C45-19A23D912B48}"/>
              </a:ext>
            </a:extLst>
          </p:cNvPr>
          <p:cNvCxnSpPr>
            <a:cxnSpLocks/>
            <a:stCxn id="75" idx="1"/>
            <a:endCxn id="74" idx="3"/>
          </p:cNvCxnSpPr>
          <p:nvPr/>
        </p:nvCxnSpPr>
        <p:spPr>
          <a:xfrm flipH="1">
            <a:off x="7266791" y="3704865"/>
            <a:ext cx="970835" cy="109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77" name="텍스트 개체 틀 2">
            <a:extLst>
              <a:ext uri="{FF2B5EF4-FFF2-40B4-BE49-F238E27FC236}">
                <a16:creationId xmlns:a16="http://schemas.microsoft.com/office/drawing/2014/main" id="{77249017-655F-4702-B339-D56035A3EB00}"/>
              </a:ext>
            </a:extLst>
          </p:cNvPr>
          <p:cNvSpPr txBox="1">
            <a:spLocks/>
          </p:cNvSpPr>
          <p:nvPr/>
        </p:nvSpPr>
        <p:spPr>
          <a:xfrm>
            <a:off x="7290034" y="3515776"/>
            <a:ext cx="1060169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 발행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/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인수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aphicFrame>
        <p:nvGraphicFramePr>
          <p:cNvPr id="78" name="표 4">
            <a:extLst>
              <a:ext uri="{FF2B5EF4-FFF2-40B4-BE49-F238E27FC236}">
                <a16:creationId xmlns:a16="http://schemas.microsoft.com/office/drawing/2014/main" id="{B384AF32-5AA7-46B9-8037-F6725780E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514024"/>
              </p:ext>
            </p:extLst>
          </p:nvPr>
        </p:nvGraphicFramePr>
        <p:xfrm>
          <a:off x="523257" y="3190822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92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신탁사</a:t>
                      </a:r>
                      <a:endParaRPr lang="ko-KR" altLang="en-US" sz="11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한국투자부동산신탁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9" name="표 4">
            <a:extLst>
              <a:ext uri="{FF2B5EF4-FFF2-40B4-BE49-F238E27FC236}">
                <a16:creationId xmlns:a16="http://schemas.microsoft.com/office/drawing/2014/main" id="{9F640C51-D3BB-4D92-87FC-5C38E79A8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441344"/>
              </p:ext>
            </p:extLst>
          </p:nvPr>
        </p:nvGraphicFramePr>
        <p:xfrm>
          <a:off x="3128717" y="4700041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92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시공사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롯데건설㈜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91AEF2F2-3B55-47B3-A699-CDAD61FB466F}"/>
              </a:ext>
            </a:extLst>
          </p:cNvPr>
          <p:cNvCxnSpPr>
            <a:cxnSpLocks/>
            <a:stCxn id="60" idx="2"/>
            <a:endCxn id="79" idx="3"/>
          </p:cNvCxnSpPr>
          <p:nvPr/>
        </p:nvCxnSpPr>
        <p:spPr>
          <a:xfrm rot="5400000">
            <a:off x="5423014" y="3894976"/>
            <a:ext cx="462520" cy="1778463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aphicFrame>
        <p:nvGraphicFramePr>
          <p:cNvPr id="81" name="표 4">
            <a:extLst>
              <a:ext uri="{FF2B5EF4-FFF2-40B4-BE49-F238E27FC236}">
                <a16:creationId xmlns:a16="http://schemas.microsoft.com/office/drawing/2014/main" id="{B21E3242-0856-4344-B059-772439A88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167718"/>
              </p:ext>
            </p:extLst>
          </p:nvPr>
        </p:nvGraphicFramePr>
        <p:xfrm>
          <a:off x="5767783" y="4075997"/>
          <a:ext cx="1551445" cy="3764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2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Tr.C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50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1" name="텍스트 개체 틀 2">
            <a:extLst>
              <a:ext uri="{FF2B5EF4-FFF2-40B4-BE49-F238E27FC236}">
                <a16:creationId xmlns:a16="http://schemas.microsoft.com/office/drawing/2014/main" id="{8C09488D-3EC6-433E-A0E0-99C46B384134}"/>
              </a:ext>
            </a:extLst>
          </p:cNvPr>
          <p:cNvSpPr txBox="1">
            <a:spLocks/>
          </p:cNvSpPr>
          <p:nvPr/>
        </p:nvSpPr>
        <p:spPr>
          <a:xfrm>
            <a:off x="2080081" y="3308704"/>
            <a:ext cx="1060169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관리형 토지신탁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계약 체결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152" name="텍스트 개체 틀 2">
            <a:extLst>
              <a:ext uri="{FF2B5EF4-FFF2-40B4-BE49-F238E27FC236}">
                <a16:creationId xmlns:a16="http://schemas.microsoft.com/office/drawing/2014/main" id="{E5552091-4E6A-47BC-B604-E1EC765647FA}"/>
              </a:ext>
            </a:extLst>
          </p:cNvPr>
          <p:cNvSpPr txBox="1">
            <a:spLocks/>
          </p:cNvSpPr>
          <p:nvPr/>
        </p:nvSpPr>
        <p:spPr>
          <a:xfrm>
            <a:off x="3131665" y="4260082"/>
            <a:ext cx="681671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공동사업약정 체결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153" name="텍스트 개체 틀 2">
            <a:extLst>
              <a:ext uri="{FF2B5EF4-FFF2-40B4-BE49-F238E27FC236}">
                <a16:creationId xmlns:a16="http://schemas.microsoft.com/office/drawing/2014/main" id="{ED305DEE-9A68-4D22-9D10-3719C0AE9F2D}"/>
              </a:ext>
            </a:extLst>
          </p:cNvPr>
          <p:cNvSpPr txBox="1">
            <a:spLocks/>
          </p:cNvSpPr>
          <p:nvPr/>
        </p:nvSpPr>
        <p:spPr>
          <a:xfrm>
            <a:off x="4578737" y="3182350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대출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154" name="텍스트 개체 틀 2">
            <a:extLst>
              <a:ext uri="{FF2B5EF4-FFF2-40B4-BE49-F238E27FC236}">
                <a16:creationId xmlns:a16="http://schemas.microsoft.com/office/drawing/2014/main" id="{55D44281-2AD0-4513-B164-487B6D5567C2}"/>
              </a:ext>
            </a:extLst>
          </p:cNvPr>
          <p:cNvSpPr txBox="1">
            <a:spLocks/>
          </p:cNvSpPr>
          <p:nvPr/>
        </p:nvSpPr>
        <p:spPr>
          <a:xfrm>
            <a:off x="4578737" y="3635581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이자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491D049-B447-448F-9860-E391365098AB}"/>
              </a:ext>
            </a:extLst>
          </p:cNvPr>
          <p:cNvSpPr txBox="1"/>
          <p:nvPr/>
        </p:nvSpPr>
        <p:spPr>
          <a:xfrm>
            <a:off x="173714" y="311830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EC1AC94-2792-4175-BE3E-BB6A45C72E6F}"/>
              </a:ext>
            </a:extLst>
          </p:cNvPr>
          <p:cNvSpPr txBox="1"/>
          <p:nvPr/>
        </p:nvSpPr>
        <p:spPr>
          <a:xfrm>
            <a:off x="51340" y="3472855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0E4635D-113E-440E-A8D5-29E7D4F303D8}"/>
              </a:ext>
            </a:extLst>
          </p:cNvPr>
          <p:cNvSpPr txBox="1"/>
          <p:nvPr/>
        </p:nvSpPr>
        <p:spPr>
          <a:xfrm>
            <a:off x="2939563" y="473846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4A666E22-9212-4D10-84DF-4AB31418EAF1}"/>
              </a:ext>
            </a:extLst>
          </p:cNvPr>
          <p:cNvSpPr txBox="1"/>
          <p:nvPr/>
        </p:nvSpPr>
        <p:spPr>
          <a:xfrm>
            <a:off x="2735035" y="5050645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CEAADAD-944F-4E1E-B686-B91020F124A0}"/>
              </a:ext>
            </a:extLst>
          </p:cNvPr>
          <p:cNvSpPr txBox="1"/>
          <p:nvPr/>
        </p:nvSpPr>
        <p:spPr>
          <a:xfrm>
            <a:off x="7297179" y="2547276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5F46008-9984-48DA-BC2D-4DD0D651A06A}"/>
              </a:ext>
            </a:extLst>
          </p:cNvPr>
          <p:cNvSpPr txBox="1"/>
          <p:nvPr/>
        </p:nvSpPr>
        <p:spPr>
          <a:xfrm>
            <a:off x="7170710" y="2777076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1A0695C-9E7A-439D-A27D-46AC76D98ACA}"/>
              </a:ext>
            </a:extLst>
          </p:cNvPr>
          <p:cNvSpPr txBox="1"/>
          <p:nvPr/>
        </p:nvSpPr>
        <p:spPr>
          <a:xfrm>
            <a:off x="7297179" y="313832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F7BED6F-4A0C-41BD-BF63-F70F9059CF9D}"/>
              </a:ext>
            </a:extLst>
          </p:cNvPr>
          <p:cNvSpPr txBox="1"/>
          <p:nvPr/>
        </p:nvSpPr>
        <p:spPr>
          <a:xfrm>
            <a:off x="7236911" y="347581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DBEA82E-0739-4094-B744-37E1F0A4ED6B}"/>
              </a:ext>
            </a:extLst>
          </p:cNvPr>
          <p:cNvSpPr txBox="1"/>
          <p:nvPr/>
        </p:nvSpPr>
        <p:spPr>
          <a:xfrm>
            <a:off x="5495417" y="407541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515D6AF-6D45-429A-852F-8663577282CD}"/>
              </a:ext>
            </a:extLst>
          </p:cNvPr>
          <p:cNvSpPr txBox="1"/>
          <p:nvPr/>
        </p:nvSpPr>
        <p:spPr>
          <a:xfrm>
            <a:off x="5375284" y="4263608"/>
            <a:ext cx="495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1BC1E6D-518C-47D9-913A-73F6D9571ACF}"/>
              </a:ext>
            </a:extLst>
          </p:cNvPr>
          <p:cNvSpPr txBox="1"/>
          <p:nvPr/>
        </p:nvSpPr>
        <p:spPr>
          <a:xfrm>
            <a:off x="9447282" y="344813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2CC8870-BD8B-4B41-B63D-35E1B24793CA}"/>
              </a:ext>
            </a:extLst>
          </p:cNvPr>
          <p:cNvSpPr txBox="1"/>
          <p:nvPr/>
        </p:nvSpPr>
        <p:spPr>
          <a:xfrm>
            <a:off x="9350787" y="3657290"/>
            <a:ext cx="526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CDE3D51-DB38-41F5-AB63-6330D474BAFB}"/>
              </a:ext>
            </a:extLst>
          </p:cNvPr>
          <p:cNvSpPr txBox="1"/>
          <p:nvPr/>
        </p:nvSpPr>
        <p:spPr>
          <a:xfrm>
            <a:off x="3094400" y="177947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1B8A756-7F19-44F5-9F67-0255C6C1A0FA}"/>
              </a:ext>
            </a:extLst>
          </p:cNvPr>
          <p:cNvSpPr txBox="1"/>
          <p:nvPr/>
        </p:nvSpPr>
        <p:spPr>
          <a:xfrm>
            <a:off x="2464455" y="304530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37632FAC-4C21-442B-BF0C-2BDE592BB32D}"/>
              </a:ext>
            </a:extLst>
          </p:cNvPr>
          <p:cNvSpPr txBox="1"/>
          <p:nvPr/>
        </p:nvSpPr>
        <p:spPr>
          <a:xfrm>
            <a:off x="3357804" y="396367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5A2291A-CA94-4547-BBD0-06E06CA9A350}"/>
              </a:ext>
            </a:extLst>
          </p:cNvPr>
          <p:cNvSpPr txBox="1"/>
          <p:nvPr/>
        </p:nvSpPr>
        <p:spPr>
          <a:xfrm>
            <a:off x="4921070" y="287115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DBFC730-281E-4913-9454-75660C2EB89D}"/>
              </a:ext>
            </a:extLst>
          </p:cNvPr>
          <p:cNvSpPr txBox="1"/>
          <p:nvPr/>
        </p:nvSpPr>
        <p:spPr>
          <a:xfrm>
            <a:off x="4967655" y="335903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C9B3BD5-6757-4490-9D03-8204E088AF68}"/>
              </a:ext>
            </a:extLst>
          </p:cNvPr>
          <p:cNvSpPr txBox="1"/>
          <p:nvPr/>
        </p:nvSpPr>
        <p:spPr>
          <a:xfrm>
            <a:off x="4766233" y="493900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B7F2419-7A3F-4A48-9EC8-BFE28A730E7E}"/>
              </a:ext>
            </a:extLst>
          </p:cNvPr>
          <p:cNvSpPr txBox="1"/>
          <p:nvPr/>
        </p:nvSpPr>
        <p:spPr>
          <a:xfrm>
            <a:off x="7109616" y="3712656"/>
            <a:ext cx="526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7744120-4D81-49A0-82A9-F121D5456993}"/>
              </a:ext>
            </a:extLst>
          </p:cNvPr>
          <p:cNvSpPr txBox="1"/>
          <p:nvPr/>
        </p:nvSpPr>
        <p:spPr>
          <a:xfrm>
            <a:off x="5979815" y="234686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0A0513ED-299C-4609-A0DA-F7FD9164B129}"/>
              </a:ext>
            </a:extLst>
          </p:cNvPr>
          <p:cNvSpPr txBox="1"/>
          <p:nvPr/>
        </p:nvSpPr>
        <p:spPr>
          <a:xfrm>
            <a:off x="3639728" y="292352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9EE9C31-E4C6-4294-B684-AF867459B845}"/>
              </a:ext>
            </a:extLst>
          </p:cNvPr>
          <p:cNvSpPr txBox="1"/>
          <p:nvPr/>
        </p:nvSpPr>
        <p:spPr>
          <a:xfrm>
            <a:off x="3013317" y="3543899"/>
            <a:ext cx="564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24506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240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5.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토지담보대출</a:t>
            </a: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선순위</a:t>
            </a: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endParaRPr lang="ko-KR" altLang="en-US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aphicFrame>
        <p:nvGraphicFramePr>
          <p:cNvPr id="52" name="표 4">
            <a:extLst>
              <a:ext uri="{FF2B5EF4-FFF2-40B4-BE49-F238E27FC236}">
                <a16:creationId xmlns:a16="http://schemas.microsoft.com/office/drawing/2014/main" id="{FEB277AE-EADA-4D16-878E-A6B78DE0A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589511"/>
              </p:ext>
            </p:extLst>
          </p:nvPr>
        </p:nvGraphicFramePr>
        <p:xfrm>
          <a:off x="3060983" y="2978392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267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차주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㈜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루시드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1B51D1FF-102C-4D9E-8DBB-9D28C1FFB2CC}"/>
              </a:ext>
            </a:extLst>
          </p:cNvPr>
          <p:cNvCxnSpPr>
            <a:cxnSpLocks/>
            <a:stCxn id="93" idx="0"/>
            <a:endCxn id="52" idx="2"/>
          </p:cNvCxnSpPr>
          <p:nvPr/>
        </p:nvCxnSpPr>
        <p:spPr>
          <a:xfrm flipV="1">
            <a:off x="3879145" y="3609244"/>
            <a:ext cx="0" cy="8783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54" name="텍스트 개체 틀 2">
            <a:extLst>
              <a:ext uri="{FF2B5EF4-FFF2-40B4-BE49-F238E27FC236}">
                <a16:creationId xmlns:a16="http://schemas.microsoft.com/office/drawing/2014/main" id="{5B643743-1AE4-49AC-806E-E79BDBDD32B3}"/>
              </a:ext>
            </a:extLst>
          </p:cNvPr>
          <p:cNvSpPr txBox="1">
            <a:spLocks/>
          </p:cNvSpPr>
          <p:nvPr/>
        </p:nvSpPr>
        <p:spPr>
          <a:xfrm>
            <a:off x="4965976" y="4808848"/>
            <a:ext cx="1241128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터미널 부지 물상보증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BE762DF-AFD9-4703-9D98-615243A09DC9}"/>
              </a:ext>
            </a:extLst>
          </p:cNvPr>
          <p:cNvSpPr/>
          <p:nvPr/>
        </p:nvSpPr>
        <p:spPr>
          <a:xfrm>
            <a:off x="5598475" y="2181211"/>
            <a:ext cx="1754592" cy="21593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200F5E-87E8-43D7-8D08-20C17EE9DB58}"/>
              </a:ext>
            </a:extLst>
          </p:cNvPr>
          <p:cNvSpPr txBox="1"/>
          <p:nvPr/>
        </p:nvSpPr>
        <p:spPr>
          <a:xfrm>
            <a:off x="5654159" y="2174517"/>
            <a:ext cx="16432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>
                <a:latin typeface="피플폰트 Bold"/>
                <a:ea typeface="피플폰트 Bold"/>
              </a:rPr>
              <a:t>본건 대주단</a:t>
            </a:r>
            <a:endParaRPr lang="en-US" altLang="ko-KR" sz="1000" b="1" u="sng" dirty="0">
              <a:latin typeface="피플폰트 Bold"/>
              <a:ea typeface="피플폰트 Bold"/>
            </a:endParaRPr>
          </a:p>
        </p:txBody>
      </p:sp>
      <p:graphicFrame>
        <p:nvGraphicFramePr>
          <p:cNvPr id="64" name="표 4">
            <a:extLst>
              <a:ext uri="{FF2B5EF4-FFF2-40B4-BE49-F238E27FC236}">
                <a16:creationId xmlns:a16="http://schemas.microsoft.com/office/drawing/2014/main" id="{6E45FAE4-C9C4-447C-878B-0AA7A6211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294787"/>
              </p:ext>
            </p:extLst>
          </p:nvPr>
        </p:nvGraphicFramePr>
        <p:xfrm>
          <a:off x="5700049" y="2427431"/>
          <a:ext cx="1551445" cy="49209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33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Tr.A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 – 1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7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130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9D30BF12-AF0E-4FC5-8CE9-FBB1C1A65330}"/>
              </a:ext>
            </a:extLst>
          </p:cNvPr>
          <p:cNvCxnSpPr>
            <a:cxnSpLocks/>
            <a:stCxn id="52" idx="1"/>
            <a:endCxn id="92" idx="3"/>
          </p:cNvCxnSpPr>
          <p:nvPr/>
        </p:nvCxnSpPr>
        <p:spPr>
          <a:xfrm flipH="1">
            <a:off x="2091848" y="3293818"/>
            <a:ext cx="96913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67" name="텍스트 개체 틀 2">
            <a:extLst>
              <a:ext uri="{FF2B5EF4-FFF2-40B4-BE49-F238E27FC236}">
                <a16:creationId xmlns:a16="http://schemas.microsoft.com/office/drawing/2014/main" id="{42D3EBA9-2F87-418D-AEF4-052EE6A8A1BF}"/>
              </a:ext>
            </a:extLst>
          </p:cNvPr>
          <p:cNvSpPr txBox="1">
            <a:spLocks/>
          </p:cNvSpPr>
          <p:nvPr/>
        </p:nvSpPr>
        <p:spPr>
          <a:xfrm>
            <a:off x="2045640" y="3093955"/>
            <a:ext cx="1060169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관리형토지신탁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계약 체결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69" name="텍스트 개체 틀 2">
            <a:extLst>
              <a:ext uri="{FF2B5EF4-FFF2-40B4-BE49-F238E27FC236}">
                <a16:creationId xmlns:a16="http://schemas.microsoft.com/office/drawing/2014/main" id="{A4DC5BD8-7A57-432A-A1B9-A05BB33054C5}"/>
              </a:ext>
            </a:extLst>
          </p:cNvPr>
          <p:cNvSpPr txBox="1">
            <a:spLocks/>
          </p:cNvSpPr>
          <p:nvPr/>
        </p:nvSpPr>
        <p:spPr>
          <a:xfrm>
            <a:off x="3140130" y="3903635"/>
            <a:ext cx="681671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공동사업약정 체결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C2DA98F6-BC78-4DB6-B325-8DEA916A5699}"/>
              </a:ext>
            </a:extLst>
          </p:cNvPr>
          <p:cNvCxnSpPr>
            <a:cxnSpLocks/>
          </p:cNvCxnSpPr>
          <p:nvPr/>
        </p:nvCxnSpPr>
        <p:spPr>
          <a:xfrm flipH="1">
            <a:off x="4749746" y="3175212"/>
            <a:ext cx="762354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83" name="텍스트 개체 틀 2">
            <a:extLst>
              <a:ext uri="{FF2B5EF4-FFF2-40B4-BE49-F238E27FC236}">
                <a16:creationId xmlns:a16="http://schemas.microsoft.com/office/drawing/2014/main" id="{F1BDCC59-8015-43C4-AB9B-E3986A17B27A}"/>
              </a:ext>
            </a:extLst>
          </p:cNvPr>
          <p:cNvSpPr txBox="1">
            <a:spLocks/>
          </p:cNvSpPr>
          <p:nvPr/>
        </p:nvSpPr>
        <p:spPr>
          <a:xfrm>
            <a:off x="4604136" y="2983945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대출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67E8251D-D13E-48EC-BF30-4BA1D5C67E63}"/>
              </a:ext>
            </a:extLst>
          </p:cNvPr>
          <p:cNvCxnSpPr>
            <a:cxnSpLocks/>
          </p:cNvCxnSpPr>
          <p:nvPr/>
        </p:nvCxnSpPr>
        <p:spPr>
          <a:xfrm flipH="1">
            <a:off x="4749746" y="3411369"/>
            <a:ext cx="762354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sp>
        <p:nvSpPr>
          <p:cNvPr id="85" name="텍스트 개체 틀 2">
            <a:extLst>
              <a:ext uri="{FF2B5EF4-FFF2-40B4-BE49-F238E27FC236}">
                <a16:creationId xmlns:a16="http://schemas.microsoft.com/office/drawing/2014/main" id="{CFAC093D-9047-465B-A150-1818A9F6328E}"/>
              </a:ext>
            </a:extLst>
          </p:cNvPr>
          <p:cNvSpPr txBox="1">
            <a:spLocks/>
          </p:cNvSpPr>
          <p:nvPr/>
        </p:nvSpPr>
        <p:spPr>
          <a:xfrm>
            <a:off x="4604136" y="3437176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이자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86" name="텍스트 개체 틀 2">
            <a:extLst>
              <a:ext uri="{FF2B5EF4-FFF2-40B4-BE49-F238E27FC236}">
                <a16:creationId xmlns:a16="http://schemas.microsoft.com/office/drawing/2014/main" id="{151E8747-2556-4D8F-9756-677727F8E82F}"/>
              </a:ext>
            </a:extLst>
          </p:cNvPr>
          <p:cNvSpPr txBox="1">
            <a:spLocks/>
          </p:cNvSpPr>
          <p:nvPr/>
        </p:nvSpPr>
        <p:spPr>
          <a:xfrm>
            <a:off x="3119799" y="1689449"/>
            <a:ext cx="1707415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순위별 우선수익권 제공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70DD8A71-871F-4072-AEC2-F8020D677886}"/>
              </a:ext>
            </a:extLst>
          </p:cNvPr>
          <p:cNvCxnSpPr>
            <a:cxnSpLocks/>
            <a:stCxn id="56" idx="0"/>
            <a:endCxn id="92" idx="0"/>
          </p:cNvCxnSpPr>
          <p:nvPr/>
        </p:nvCxnSpPr>
        <p:spPr>
          <a:xfrm rot="16200000" flipH="1" flipV="1">
            <a:off x="3472791" y="-24590"/>
            <a:ext cx="803875" cy="5202087"/>
          </a:xfrm>
          <a:prstGeom prst="bentConnector3">
            <a:avLst>
              <a:gd name="adj1" fmla="val -28437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944D0E3A-1431-40B3-835C-0F8185CAA0C3}"/>
              </a:ext>
            </a:extLst>
          </p:cNvPr>
          <p:cNvSpPr/>
          <p:nvPr/>
        </p:nvSpPr>
        <p:spPr>
          <a:xfrm>
            <a:off x="5645693" y="2919528"/>
            <a:ext cx="3879308" cy="491841"/>
          </a:xfrm>
          <a:prstGeom prst="rect">
            <a:avLst/>
          </a:prstGeom>
          <a:solidFill>
            <a:schemeClr val="bg1">
              <a:lumMod val="95000"/>
              <a:alpha val="74000"/>
            </a:scheme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aphicFrame>
        <p:nvGraphicFramePr>
          <p:cNvPr id="89" name="표 4">
            <a:extLst>
              <a:ext uri="{FF2B5EF4-FFF2-40B4-BE49-F238E27FC236}">
                <a16:creationId xmlns:a16="http://schemas.microsoft.com/office/drawing/2014/main" id="{F5BAE464-8E4E-4741-95A1-A63DAC17B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35818"/>
              </p:ext>
            </p:extLst>
          </p:nvPr>
        </p:nvGraphicFramePr>
        <p:xfrm>
          <a:off x="8195101" y="2944929"/>
          <a:ext cx="1248892" cy="42149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248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8588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lt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사채권자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90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70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억원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6D4F26CB-8F5D-45A2-9FEA-9BFCF6EDCF3F}"/>
              </a:ext>
            </a:extLst>
          </p:cNvPr>
          <p:cNvCxnSpPr>
            <a:cxnSpLocks/>
            <a:stCxn id="89" idx="1"/>
            <a:endCxn id="97" idx="3"/>
          </p:cNvCxnSpPr>
          <p:nvPr/>
        </p:nvCxnSpPr>
        <p:spPr>
          <a:xfrm flipH="1" flipV="1">
            <a:off x="7251493" y="3155667"/>
            <a:ext cx="943608" cy="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91" name="텍스트 개체 틀 2">
            <a:extLst>
              <a:ext uri="{FF2B5EF4-FFF2-40B4-BE49-F238E27FC236}">
                <a16:creationId xmlns:a16="http://schemas.microsoft.com/office/drawing/2014/main" id="{DD4C3EF9-66FB-4010-9ACE-BCCBAEAD7ADD}"/>
              </a:ext>
            </a:extLst>
          </p:cNvPr>
          <p:cNvSpPr txBox="1">
            <a:spLocks/>
          </p:cNvSpPr>
          <p:nvPr/>
        </p:nvSpPr>
        <p:spPr>
          <a:xfrm>
            <a:off x="7244000" y="2966494"/>
            <a:ext cx="1060169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 발행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/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인수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aphicFrame>
        <p:nvGraphicFramePr>
          <p:cNvPr id="92" name="표 4">
            <a:extLst>
              <a:ext uri="{FF2B5EF4-FFF2-40B4-BE49-F238E27FC236}">
                <a16:creationId xmlns:a16="http://schemas.microsoft.com/office/drawing/2014/main" id="{ADBC7A46-F5EC-487F-BFB2-B0752EFC6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269448"/>
              </p:ext>
            </p:extLst>
          </p:nvPr>
        </p:nvGraphicFramePr>
        <p:xfrm>
          <a:off x="455523" y="2978392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92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신탁사</a:t>
                      </a:r>
                      <a:endParaRPr lang="ko-KR" altLang="en-US" sz="11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한국투자부동산신탁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3" name="표 4">
            <a:extLst>
              <a:ext uri="{FF2B5EF4-FFF2-40B4-BE49-F238E27FC236}">
                <a16:creationId xmlns:a16="http://schemas.microsoft.com/office/drawing/2014/main" id="{946D68C3-9771-4E34-83EE-0DAA55F77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498181"/>
              </p:ext>
            </p:extLst>
          </p:nvPr>
        </p:nvGraphicFramePr>
        <p:xfrm>
          <a:off x="3060983" y="4487611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92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시공사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롯데건설㈜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298C37C9-8911-44F9-B1A2-46C5428B0C05}"/>
              </a:ext>
            </a:extLst>
          </p:cNvPr>
          <p:cNvCxnSpPr>
            <a:cxnSpLocks/>
            <a:stCxn id="55" idx="2"/>
            <a:endCxn id="93" idx="3"/>
          </p:cNvCxnSpPr>
          <p:nvPr/>
        </p:nvCxnSpPr>
        <p:spPr>
          <a:xfrm rot="5400000">
            <a:off x="5355280" y="3682546"/>
            <a:ext cx="462520" cy="1778463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aphicFrame>
        <p:nvGraphicFramePr>
          <p:cNvPr id="95" name="표 4">
            <a:extLst>
              <a:ext uri="{FF2B5EF4-FFF2-40B4-BE49-F238E27FC236}">
                <a16:creationId xmlns:a16="http://schemas.microsoft.com/office/drawing/2014/main" id="{D561EC52-FB41-4D44-BB88-F6D32A5E7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826103"/>
              </p:ext>
            </p:extLst>
          </p:nvPr>
        </p:nvGraphicFramePr>
        <p:xfrm>
          <a:off x="5700049" y="3863567"/>
          <a:ext cx="1551445" cy="3764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2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Tr.C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50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6" name="표 4">
            <a:extLst>
              <a:ext uri="{FF2B5EF4-FFF2-40B4-BE49-F238E27FC236}">
                <a16:creationId xmlns:a16="http://schemas.microsoft.com/office/drawing/2014/main" id="{517CFCC7-C2C8-4DF5-A3CB-DB59981E1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080571"/>
              </p:ext>
            </p:extLst>
          </p:nvPr>
        </p:nvGraphicFramePr>
        <p:xfrm>
          <a:off x="5700049" y="3452683"/>
          <a:ext cx="1551445" cy="37649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28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Tr.B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150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7" name="표 4">
            <a:extLst>
              <a:ext uri="{FF2B5EF4-FFF2-40B4-BE49-F238E27FC236}">
                <a16:creationId xmlns:a16="http://schemas.microsoft.com/office/drawing/2014/main" id="{4FDC194D-AB4A-42A3-B1E4-9C6D47265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39595"/>
              </p:ext>
            </p:extLst>
          </p:nvPr>
        </p:nvGraphicFramePr>
        <p:xfrm>
          <a:off x="5700048" y="2967419"/>
          <a:ext cx="1551445" cy="3764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2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Tr.A-2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70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8" name="TextBox 97">
            <a:extLst>
              <a:ext uri="{FF2B5EF4-FFF2-40B4-BE49-F238E27FC236}">
                <a16:creationId xmlns:a16="http://schemas.microsoft.com/office/drawing/2014/main" id="{DF8038BB-095C-4B65-84FF-FB093B6F2C3C}"/>
              </a:ext>
            </a:extLst>
          </p:cNvPr>
          <p:cNvSpPr txBox="1"/>
          <p:nvPr/>
        </p:nvSpPr>
        <p:spPr>
          <a:xfrm>
            <a:off x="158079" y="296649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F06F1AA-86DB-4736-9450-E1B01B61B850}"/>
              </a:ext>
            </a:extLst>
          </p:cNvPr>
          <p:cNvSpPr txBox="1"/>
          <p:nvPr/>
        </p:nvSpPr>
        <p:spPr>
          <a:xfrm>
            <a:off x="35705" y="3321049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67445A6-8A22-4289-978E-44EC072EC1A5}"/>
              </a:ext>
            </a:extLst>
          </p:cNvPr>
          <p:cNvSpPr txBox="1"/>
          <p:nvPr/>
        </p:nvSpPr>
        <p:spPr>
          <a:xfrm>
            <a:off x="3708111" y="269583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7115FFC-1AC5-4830-978B-0092160593FC}"/>
              </a:ext>
            </a:extLst>
          </p:cNvPr>
          <p:cNvSpPr txBox="1"/>
          <p:nvPr/>
        </p:nvSpPr>
        <p:spPr>
          <a:xfrm>
            <a:off x="3081700" y="3316205"/>
            <a:ext cx="564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3D2AD71-C7CE-4355-8E4F-99E484D000B6}"/>
              </a:ext>
            </a:extLst>
          </p:cNvPr>
          <p:cNvSpPr txBox="1"/>
          <p:nvPr/>
        </p:nvSpPr>
        <p:spPr>
          <a:xfrm>
            <a:off x="2778198" y="449456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B881993-045D-4035-8A75-0B7716E92F55}"/>
              </a:ext>
            </a:extLst>
          </p:cNvPr>
          <p:cNvSpPr txBox="1"/>
          <p:nvPr/>
        </p:nvSpPr>
        <p:spPr>
          <a:xfrm>
            <a:off x="2573670" y="4806745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8A635C6-0EEE-46C0-9550-429897AE727B}"/>
              </a:ext>
            </a:extLst>
          </p:cNvPr>
          <p:cNvSpPr txBox="1"/>
          <p:nvPr/>
        </p:nvSpPr>
        <p:spPr>
          <a:xfrm>
            <a:off x="7206347" y="2420738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8430A7C-50CF-40B2-8BD2-533D0CA93A8A}"/>
              </a:ext>
            </a:extLst>
          </p:cNvPr>
          <p:cNvSpPr txBox="1"/>
          <p:nvPr/>
        </p:nvSpPr>
        <p:spPr>
          <a:xfrm>
            <a:off x="7161499" y="2676089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25324E1-8F75-4637-B82F-A0414F42F7B7}"/>
              </a:ext>
            </a:extLst>
          </p:cNvPr>
          <p:cNvSpPr txBox="1"/>
          <p:nvPr/>
        </p:nvSpPr>
        <p:spPr>
          <a:xfrm>
            <a:off x="5897430" y="213487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B3832D9-1088-4A59-ADA6-86D1946D4B23}"/>
              </a:ext>
            </a:extLst>
          </p:cNvPr>
          <p:cNvSpPr txBox="1"/>
          <p:nvPr/>
        </p:nvSpPr>
        <p:spPr>
          <a:xfrm>
            <a:off x="6898351" y="290193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E73EDA3-0C7D-495F-ADCB-60DE35312F39}"/>
              </a:ext>
            </a:extLst>
          </p:cNvPr>
          <p:cNvSpPr txBox="1"/>
          <p:nvPr/>
        </p:nvSpPr>
        <p:spPr>
          <a:xfrm>
            <a:off x="6813185" y="3122647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55C7FD1-586C-4671-A7BF-350CA4709D15}"/>
              </a:ext>
            </a:extLst>
          </p:cNvPr>
          <p:cNvSpPr txBox="1"/>
          <p:nvPr/>
        </p:nvSpPr>
        <p:spPr>
          <a:xfrm>
            <a:off x="7023926" y="334972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1153000-6884-4424-87B0-25DDEE80CC72}"/>
              </a:ext>
            </a:extLst>
          </p:cNvPr>
          <p:cNvSpPr txBox="1"/>
          <p:nvPr/>
        </p:nvSpPr>
        <p:spPr>
          <a:xfrm>
            <a:off x="6896631" y="3586568"/>
            <a:ext cx="526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D3BADC9-BA47-4021-9237-ABA91C93FA7E}"/>
              </a:ext>
            </a:extLst>
          </p:cNvPr>
          <p:cNvSpPr txBox="1"/>
          <p:nvPr/>
        </p:nvSpPr>
        <p:spPr>
          <a:xfrm>
            <a:off x="7169810" y="382018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4CE7CCD-94EC-400D-A8A4-D64BB8EB37D8}"/>
              </a:ext>
            </a:extLst>
          </p:cNvPr>
          <p:cNvSpPr txBox="1"/>
          <p:nvPr/>
        </p:nvSpPr>
        <p:spPr>
          <a:xfrm>
            <a:off x="7049677" y="4008384"/>
            <a:ext cx="495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AFE5D36-723B-4E02-900E-EB50A63F7E87}"/>
              </a:ext>
            </a:extLst>
          </p:cNvPr>
          <p:cNvSpPr txBox="1"/>
          <p:nvPr/>
        </p:nvSpPr>
        <p:spPr>
          <a:xfrm>
            <a:off x="9179267" y="289821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BFD306A-0F5D-4110-A1C9-BABBB6131B6C}"/>
              </a:ext>
            </a:extLst>
          </p:cNvPr>
          <p:cNvSpPr txBox="1"/>
          <p:nvPr/>
        </p:nvSpPr>
        <p:spPr>
          <a:xfrm>
            <a:off x="9082772" y="3107364"/>
            <a:ext cx="526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E354FB3-A25C-4592-B599-AA245E409F47}"/>
              </a:ext>
            </a:extLst>
          </p:cNvPr>
          <p:cNvSpPr txBox="1"/>
          <p:nvPr/>
        </p:nvSpPr>
        <p:spPr>
          <a:xfrm>
            <a:off x="2415677" y="288415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2CDC532-16B4-4421-A2EE-06671FC8C984}"/>
              </a:ext>
            </a:extLst>
          </p:cNvPr>
          <p:cNvSpPr txBox="1"/>
          <p:nvPr/>
        </p:nvSpPr>
        <p:spPr>
          <a:xfrm>
            <a:off x="4953000" y="274779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A157728-A45E-4507-BB3A-BE9F0C0AFB57}"/>
              </a:ext>
            </a:extLst>
          </p:cNvPr>
          <p:cNvSpPr txBox="1"/>
          <p:nvPr/>
        </p:nvSpPr>
        <p:spPr>
          <a:xfrm>
            <a:off x="4966064" y="355644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F0883BD-3DE0-406A-8EA1-AEA46CBAAAAF}"/>
              </a:ext>
            </a:extLst>
          </p:cNvPr>
          <p:cNvSpPr txBox="1"/>
          <p:nvPr/>
        </p:nvSpPr>
        <p:spPr>
          <a:xfrm>
            <a:off x="3719891" y="1442478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A2561E7-D40E-44B6-BC0B-78AD207F3C88}"/>
              </a:ext>
            </a:extLst>
          </p:cNvPr>
          <p:cNvSpPr txBox="1"/>
          <p:nvPr/>
        </p:nvSpPr>
        <p:spPr>
          <a:xfrm>
            <a:off x="4867159" y="4755179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BC2FAE0-E491-4BDB-ADC2-675BBB1F535E}"/>
              </a:ext>
            </a:extLst>
          </p:cNvPr>
          <p:cNvSpPr txBox="1"/>
          <p:nvPr/>
        </p:nvSpPr>
        <p:spPr>
          <a:xfrm>
            <a:off x="7782384" y="267298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</p:spTree>
    <p:extLst>
      <p:ext uri="{BB962C8B-B14F-4D97-AF65-F5344CB8AC3E}">
        <p14:creationId xmlns:p14="http://schemas.microsoft.com/office/powerpoint/2010/main" val="1335897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2404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6.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토지담보대출</a:t>
            </a: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후순위</a:t>
            </a: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endParaRPr lang="ko-KR" altLang="en-US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aphicFrame>
        <p:nvGraphicFramePr>
          <p:cNvPr id="57" name="표 4">
            <a:extLst>
              <a:ext uri="{FF2B5EF4-FFF2-40B4-BE49-F238E27FC236}">
                <a16:creationId xmlns:a16="http://schemas.microsoft.com/office/drawing/2014/main" id="{D5E1801A-CDE7-43CC-A5EE-1DE541B72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281781"/>
              </p:ext>
            </p:extLst>
          </p:nvPr>
        </p:nvGraphicFramePr>
        <p:xfrm>
          <a:off x="3120250" y="2872745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267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차주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㈜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루시드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4047571F-0D7E-498C-A060-C5AE33CAF83F}"/>
              </a:ext>
            </a:extLst>
          </p:cNvPr>
          <p:cNvCxnSpPr>
            <a:cxnSpLocks/>
            <a:stCxn id="122" idx="0"/>
            <a:endCxn id="57" idx="2"/>
          </p:cNvCxnSpPr>
          <p:nvPr/>
        </p:nvCxnSpPr>
        <p:spPr>
          <a:xfrm flipV="1">
            <a:off x="3938412" y="3503597"/>
            <a:ext cx="0" cy="8783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59" name="텍스트 개체 틀 2">
            <a:extLst>
              <a:ext uri="{FF2B5EF4-FFF2-40B4-BE49-F238E27FC236}">
                <a16:creationId xmlns:a16="http://schemas.microsoft.com/office/drawing/2014/main" id="{E323DD13-6540-4A24-99B0-017F665F7624}"/>
              </a:ext>
            </a:extLst>
          </p:cNvPr>
          <p:cNvSpPr txBox="1">
            <a:spLocks/>
          </p:cNvSpPr>
          <p:nvPr/>
        </p:nvSpPr>
        <p:spPr>
          <a:xfrm>
            <a:off x="5025243" y="4703201"/>
            <a:ext cx="1241128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터미널 부지 물상보증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70D1E87-3C6B-446F-ACAF-8AF0C0F3CB7D}"/>
              </a:ext>
            </a:extLst>
          </p:cNvPr>
          <p:cNvSpPr/>
          <p:nvPr/>
        </p:nvSpPr>
        <p:spPr>
          <a:xfrm>
            <a:off x="5657742" y="2075564"/>
            <a:ext cx="1754592" cy="21593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7642CC-FC0C-4563-8BD9-0789B37198C0}"/>
              </a:ext>
            </a:extLst>
          </p:cNvPr>
          <p:cNvSpPr txBox="1"/>
          <p:nvPr/>
        </p:nvSpPr>
        <p:spPr>
          <a:xfrm>
            <a:off x="5713426" y="2068870"/>
            <a:ext cx="16432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>
                <a:latin typeface="피플폰트 Bold"/>
                <a:ea typeface="피플폰트 Bold"/>
              </a:rPr>
              <a:t>본건 대주단</a:t>
            </a:r>
            <a:endParaRPr lang="en-US" altLang="ko-KR" sz="1000" b="1" u="sng" dirty="0">
              <a:latin typeface="피플폰트 Bold"/>
              <a:ea typeface="피플폰트 Bold"/>
            </a:endParaRPr>
          </a:p>
        </p:txBody>
      </p:sp>
      <p:graphicFrame>
        <p:nvGraphicFramePr>
          <p:cNvPr id="62" name="표 4">
            <a:extLst>
              <a:ext uri="{FF2B5EF4-FFF2-40B4-BE49-F238E27FC236}">
                <a16:creationId xmlns:a16="http://schemas.microsoft.com/office/drawing/2014/main" id="{03D1F65D-81F4-40CE-80A7-3CD548DBF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657483"/>
              </p:ext>
            </p:extLst>
          </p:nvPr>
        </p:nvGraphicFramePr>
        <p:xfrm>
          <a:off x="5759316" y="2321785"/>
          <a:ext cx="1551445" cy="3764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2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Tr.A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153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C0AF925E-12A0-4D3F-8357-5A79EE039AFF}"/>
              </a:ext>
            </a:extLst>
          </p:cNvPr>
          <p:cNvCxnSpPr>
            <a:cxnSpLocks/>
            <a:stCxn id="57" idx="1"/>
            <a:endCxn id="121" idx="3"/>
          </p:cNvCxnSpPr>
          <p:nvPr/>
        </p:nvCxnSpPr>
        <p:spPr>
          <a:xfrm flipH="1">
            <a:off x="2151115" y="3188171"/>
            <a:ext cx="96913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66" name="텍스트 개체 틀 2">
            <a:extLst>
              <a:ext uri="{FF2B5EF4-FFF2-40B4-BE49-F238E27FC236}">
                <a16:creationId xmlns:a16="http://schemas.microsoft.com/office/drawing/2014/main" id="{E6DE6BAD-4365-458D-B7F0-9FA15A5609FB}"/>
              </a:ext>
            </a:extLst>
          </p:cNvPr>
          <p:cNvSpPr txBox="1">
            <a:spLocks/>
          </p:cNvSpPr>
          <p:nvPr/>
        </p:nvSpPr>
        <p:spPr>
          <a:xfrm>
            <a:off x="2104907" y="2988308"/>
            <a:ext cx="1060169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관리형토지신탁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계약 체결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68" name="텍스트 개체 틀 2">
            <a:extLst>
              <a:ext uri="{FF2B5EF4-FFF2-40B4-BE49-F238E27FC236}">
                <a16:creationId xmlns:a16="http://schemas.microsoft.com/office/drawing/2014/main" id="{7FFE9896-0E5D-47F0-B566-9A18D7C529B5}"/>
              </a:ext>
            </a:extLst>
          </p:cNvPr>
          <p:cNvSpPr txBox="1">
            <a:spLocks/>
          </p:cNvSpPr>
          <p:nvPr/>
        </p:nvSpPr>
        <p:spPr>
          <a:xfrm>
            <a:off x="3199397" y="3797988"/>
            <a:ext cx="681671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공동사업약정 체결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69D8E13B-5D06-4DD7-A4C2-CC8D0F6F59FD}"/>
              </a:ext>
            </a:extLst>
          </p:cNvPr>
          <p:cNvCxnSpPr>
            <a:cxnSpLocks/>
          </p:cNvCxnSpPr>
          <p:nvPr/>
        </p:nvCxnSpPr>
        <p:spPr>
          <a:xfrm flipH="1">
            <a:off x="4809013" y="3069565"/>
            <a:ext cx="762354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71" name="텍스트 개체 틀 2">
            <a:extLst>
              <a:ext uri="{FF2B5EF4-FFF2-40B4-BE49-F238E27FC236}">
                <a16:creationId xmlns:a16="http://schemas.microsoft.com/office/drawing/2014/main" id="{75B2DE82-C53F-4F92-9EBA-FC347699F6BF}"/>
              </a:ext>
            </a:extLst>
          </p:cNvPr>
          <p:cNvSpPr txBox="1">
            <a:spLocks/>
          </p:cNvSpPr>
          <p:nvPr/>
        </p:nvSpPr>
        <p:spPr>
          <a:xfrm>
            <a:off x="4663403" y="2878298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대출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75BE000F-D169-4EB9-A7E7-A80FF9E380FB}"/>
              </a:ext>
            </a:extLst>
          </p:cNvPr>
          <p:cNvCxnSpPr>
            <a:cxnSpLocks/>
          </p:cNvCxnSpPr>
          <p:nvPr/>
        </p:nvCxnSpPr>
        <p:spPr>
          <a:xfrm flipH="1">
            <a:off x="4809013" y="3305722"/>
            <a:ext cx="762354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sp>
        <p:nvSpPr>
          <p:cNvPr id="73" name="텍스트 개체 틀 2">
            <a:extLst>
              <a:ext uri="{FF2B5EF4-FFF2-40B4-BE49-F238E27FC236}">
                <a16:creationId xmlns:a16="http://schemas.microsoft.com/office/drawing/2014/main" id="{6BFD35B0-9760-41B7-8C5C-31E6251F2461}"/>
              </a:ext>
            </a:extLst>
          </p:cNvPr>
          <p:cNvSpPr txBox="1">
            <a:spLocks/>
          </p:cNvSpPr>
          <p:nvPr/>
        </p:nvSpPr>
        <p:spPr>
          <a:xfrm>
            <a:off x="4663403" y="3331529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이자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74" name="텍스트 개체 틀 2">
            <a:extLst>
              <a:ext uri="{FF2B5EF4-FFF2-40B4-BE49-F238E27FC236}">
                <a16:creationId xmlns:a16="http://schemas.microsoft.com/office/drawing/2014/main" id="{8EA949AC-FF53-4C65-8D54-08FF6BFEBA41}"/>
              </a:ext>
            </a:extLst>
          </p:cNvPr>
          <p:cNvSpPr txBox="1">
            <a:spLocks/>
          </p:cNvSpPr>
          <p:nvPr/>
        </p:nvSpPr>
        <p:spPr>
          <a:xfrm>
            <a:off x="3179066" y="1583802"/>
            <a:ext cx="1707415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순위별 우선수익권 제공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BCEAC158-A4E9-4F82-B6EA-1C13DCACC3EC}"/>
              </a:ext>
            </a:extLst>
          </p:cNvPr>
          <p:cNvCxnSpPr>
            <a:cxnSpLocks/>
            <a:stCxn id="61" idx="0"/>
            <a:endCxn id="121" idx="0"/>
          </p:cNvCxnSpPr>
          <p:nvPr/>
        </p:nvCxnSpPr>
        <p:spPr>
          <a:xfrm rot="16200000" flipH="1" flipV="1">
            <a:off x="3532058" y="-130237"/>
            <a:ext cx="803875" cy="5202087"/>
          </a:xfrm>
          <a:prstGeom prst="bentConnector3">
            <a:avLst>
              <a:gd name="adj1" fmla="val -28437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aphicFrame>
        <p:nvGraphicFramePr>
          <p:cNvPr id="76" name="표 4">
            <a:extLst>
              <a:ext uri="{FF2B5EF4-FFF2-40B4-BE49-F238E27FC236}">
                <a16:creationId xmlns:a16="http://schemas.microsoft.com/office/drawing/2014/main" id="{5C5373E4-9D27-4742-9579-E2D6C694F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606519"/>
              </p:ext>
            </p:extLst>
          </p:nvPr>
        </p:nvGraphicFramePr>
        <p:xfrm>
          <a:off x="5759316" y="3230413"/>
          <a:ext cx="1551445" cy="91728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50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Tr.C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 (</a:t>
                      </a: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기초자산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, 50</a:t>
                      </a: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)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4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7" name="직사각형 76">
            <a:extLst>
              <a:ext uri="{FF2B5EF4-FFF2-40B4-BE49-F238E27FC236}">
                <a16:creationId xmlns:a16="http://schemas.microsoft.com/office/drawing/2014/main" id="{D28ADB64-C3D9-4E32-8483-0C46DE4CA9CF}"/>
              </a:ext>
            </a:extLst>
          </p:cNvPr>
          <p:cNvSpPr/>
          <p:nvPr/>
        </p:nvSpPr>
        <p:spPr>
          <a:xfrm>
            <a:off x="5692524" y="3566297"/>
            <a:ext cx="3875969" cy="531609"/>
          </a:xfrm>
          <a:prstGeom prst="rect">
            <a:avLst/>
          </a:prstGeom>
          <a:solidFill>
            <a:schemeClr val="bg1">
              <a:lumMod val="95000"/>
              <a:alpha val="74000"/>
            </a:scheme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graphicFrame>
        <p:nvGraphicFramePr>
          <p:cNvPr id="78" name="표 4">
            <a:extLst>
              <a:ext uri="{FF2B5EF4-FFF2-40B4-BE49-F238E27FC236}">
                <a16:creationId xmlns:a16="http://schemas.microsoft.com/office/drawing/2014/main" id="{B9D49969-894D-43E4-875A-4A4446727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583562"/>
              </p:ext>
            </p:extLst>
          </p:nvPr>
        </p:nvGraphicFramePr>
        <p:xfrm>
          <a:off x="5830804" y="3598731"/>
          <a:ext cx="1427520" cy="4192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42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64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신규 유동화 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SPC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64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50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9" name="표 4">
            <a:extLst>
              <a:ext uri="{FF2B5EF4-FFF2-40B4-BE49-F238E27FC236}">
                <a16:creationId xmlns:a16="http://schemas.microsoft.com/office/drawing/2014/main" id="{6A5AAB3C-4E83-407A-8F23-4D91853405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119522"/>
              </p:ext>
            </p:extLst>
          </p:nvPr>
        </p:nvGraphicFramePr>
        <p:xfrm>
          <a:off x="8229159" y="3596536"/>
          <a:ext cx="1248892" cy="42149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248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8588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lt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사채권자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90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50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EF97531E-1593-4F3E-9524-C0E13F048098}"/>
              </a:ext>
            </a:extLst>
          </p:cNvPr>
          <p:cNvCxnSpPr>
            <a:cxnSpLocks/>
          </p:cNvCxnSpPr>
          <p:nvPr/>
        </p:nvCxnSpPr>
        <p:spPr>
          <a:xfrm flipH="1">
            <a:off x="7263069" y="3789766"/>
            <a:ext cx="970835" cy="109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81" name="텍스트 개체 틀 2">
            <a:extLst>
              <a:ext uri="{FF2B5EF4-FFF2-40B4-BE49-F238E27FC236}">
                <a16:creationId xmlns:a16="http://schemas.microsoft.com/office/drawing/2014/main" id="{D0769FEF-43BA-441B-B004-D78A6C9327B5}"/>
              </a:ext>
            </a:extLst>
          </p:cNvPr>
          <p:cNvSpPr txBox="1">
            <a:spLocks/>
          </p:cNvSpPr>
          <p:nvPr/>
        </p:nvSpPr>
        <p:spPr>
          <a:xfrm>
            <a:off x="7254602" y="3609457"/>
            <a:ext cx="1060169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 발행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/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인수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aphicFrame>
        <p:nvGraphicFramePr>
          <p:cNvPr id="121" name="표 4">
            <a:extLst>
              <a:ext uri="{FF2B5EF4-FFF2-40B4-BE49-F238E27FC236}">
                <a16:creationId xmlns:a16="http://schemas.microsoft.com/office/drawing/2014/main" id="{A3312FD1-2FE2-4D64-B760-C9A724F81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384190"/>
              </p:ext>
            </p:extLst>
          </p:nvPr>
        </p:nvGraphicFramePr>
        <p:xfrm>
          <a:off x="514790" y="2872745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92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신탁사</a:t>
                      </a:r>
                      <a:endParaRPr lang="ko-KR" altLang="en-US" sz="11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한국투자부동산신탁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2" name="표 4">
            <a:extLst>
              <a:ext uri="{FF2B5EF4-FFF2-40B4-BE49-F238E27FC236}">
                <a16:creationId xmlns:a16="http://schemas.microsoft.com/office/drawing/2014/main" id="{4B4E6BC9-115F-4FB2-8E1A-D9F811604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872464"/>
              </p:ext>
            </p:extLst>
          </p:nvPr>
        </p:nvGraphicFramePr>
        <p:xfrm>
          <a:off x="3120250" y="4381964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92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시공사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롯데건설㈜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3" name="연결선: 꺾임 122">
            <a:extLst>
              <a:ext uri="{FF2B5EF4-FFF2-40B4-BE49-F238E27FC236}">
                <a16:creationId xmlns:a16="http://schemas.microsoft.com/office/drawing/2014/main" id="{BA45BB06-044F-468A-98AD-74A6D3BD5390}"/>
              </a:ext>
            </a:extLst>
          </p:cNvPr>
          <p:cNvCxnSpPr>
            <a:cxnSpLocks/>
            <a:stCxn id="60" idx="2"/>
            <a:endCxn id="122" idx="3"/>
          </p:cNvCxnSpPr>
          <p:nvPr/>
        </p:nvCxnSpPr>
        <p:spPr>
          <a:xfrm rot="5400000">
            <a:off x="5414547" y="3576899"/>
            <a:ext cx="462520" cy="1778463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aphicFrame>
        <p:nvGraphicFramePr>
          <p:cNvPr id="124" name="표 4">
            <a:extLst>
              <a:ext uri="{FF2B5EF4-FFF2-40B4-BE49-F238E27FC236}">
                <a16:creationId xmlns:a16="http://schemas.microsoft.com/office/drawing/2014/main" id="{0AAF0D15-A6C3-4FD0-8E77-BA7567A98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544775"/>
              </p:ext>
            </p:extLst>
          </p:nvPr>
        </p:nvGraphicFramePr>
        <p:xfrm>
          <a:off x="5759316" y="2765760"/>
          <a:ext cx="1551445" cy="3764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2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Tr.B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197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5" name="TextBox 124">
            <a:extLst>
              <a:ext uri="{FF2B5EF4-FFF2-40B4-BE49-F238E27FC236}">
                <a16:creationId xmlns:a16="http://schemas.microsoft.com/office/drawing/2014/main" id="{86DF40FE-04B6-4B65-8158-94FCFFC4A3AD}"/>
              </a:ext>
            </a:extLst>
          </p:cNvPr>
          <p:cNvSpPr txBox="1"/>
          <p:nvPr/>
        </p:nvSpPr>
        <p:spPr>
          <a:xfrm>
            <a:off x="273578" y="287274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85FEC6E-FE33-42FA-9071-495F45243459}"/>
              </a:ext>
            </a:extLst>
          </p:cNvPr>
          <p:cNvSpPr txBox="1"/>
          <p:nvPr/>
        </p:nvSpPr>
        <p:spPr>
          <a:xfrm>
            <a:off x="159309" y="3261781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9C54914-6232-44A8-AA36-CA10115EC51A}"/>
              </a:ext>
            </a:extLst>
          </p:cNvPr>
          <p:cNvSpPr txBox="1"/>
          <p:nvPr/>
        </p:nvSpPr>
        <p:spPr>
          <a:xfrm>
            <a:off x="3594755" y="2602498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ED39323-83B2-4060-A186-A29EE208ED15}"/>
              </a:ext>
            </a:extLst>
          </p:cNvPr>
          <p:cNvSpPr txBox="1"/>
          <p:nvPr/>
        </p:nvSpPr>
        <p:spPr>
          <a:xfrm>
            <a:off x="3113571" y="3213404"/>
            <a:ext cx="564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15BED40-E55B-4CDA-B088-5AA89B32D991}"/>
              </a:ext>
            </a:extLst>
          </p:cNvPr>
          <p:cNvSpPr txBox="1"/>
          <p:nvPr/>
        </p:nvSpPr>
        <p:spPr>
          <a:xfrm>
            <a:off x="2803464" y="435538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2FD8654-1408-4BC5-9EB8-7EAADAE397FA}"/>
              </a:ext>
            </a:extLst>
          </p:cNvPr>
          <p:cNvSpPr txBox="1"/>
          <p:nvPr/>
        </p:nvSpPr>
        <p:spPr>
          <a:xfrm>
            <a:off x="2732106" y="4797959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CDA105A-5D7D-46C8-9140-0F7B5D7EC04C}"/>
              </a:ext>
            </a:extLst>
          </p:cNvPr>
          <p:cNvSpPr txBox="1"/>
          <p:nvPr/>
        </p:nvSpPr>
        <p:spPr>
          <a:xfrm>
            <a:off x="7118421" y="2259792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884034C-ADFF-4E67-9994-343EB18182C3}"/>
              </a:ext>
            </a:extLst>
          </p:cNvPr>
          <p:cNvSpPr txBox="1"/>
          <p:nvPr/>
        </p:nvSpPr>
        <p:spPr>
          <a:xfrm>
            <a:off x="7087232" y="2505434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F3E31AB-07D1-45F6-8C3C-B7AE45D34B21}"/>
              </a:ext>
            </a:extLst>
          </p:cNvPr>
          <p:cNvSpPr txBox="1"/>
          <p:nvPr/>
        </p:nvSpPr>
        <p:spPr>
          <a:xfrm>
            <a:off x="5910532" y="203237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AB26A29-54B3-449E-8C2A-CD79FE1119B8}"/>
              </a:ext>
            </a:extLst>
          </p:cNvPr>
          <p:cNvSpPr txBox="1"/>
          <p:nvPr/>
        </p:nvSpPr>
        <p:spPr>
          <a:xfrm>
            <a:off x="2493790" y="274559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4E5D143-4890-4C33-B369-6E26E2251ADE}"/>
              </a:ext>
            </a:extLst>
          </p:cNvPr>
          <p:cNvSpPr txBox="1"/>
          <p:nvPr/>
        </p:nvSpPr>
        <p:spPr>
          <a:xfrm>
            <a:off x="2942987" y="374187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6AE8B61-D1CD-4DE2-A1C3-8ADF0ACC86F5}"/>
              </a:ext>
            </a:extLst>
          </p:cNvPr>
          <p:cNvSpPr txBox="1"/>
          <p:nvPr/>
        </p:nvSpPr>
        <p:spPr>
          <a:xfrm>
            <a:off x="4801584" y="2803038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39F77AB-9228-4C8C-A16D-1F9A6B44A91B}"/>
              </a:ext>
            </a:extLst>
          </p:cNvPr>
          <p:cNvSpPr txBox="1"/>
          <p:nvPr/>
        </p:nvSpPr>
        <p:spPr>
          <a:xfrm>
            <a:off x="4801584" y="3290500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E501935-8B62-4723-AAC6-1BD1445E6179}"/>
              </a:ext>
            </a:extLst>
          </p:cNvPr>
          <p:cNvSpPr txBox="1"/>
          <p:nvPr/>
        </p:nvSpPr>
        <p:spPr>
          <a:xfrm>
            <a:off x="6982256" y="2903621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BAF6102-DF28-43DB-98F0-DEE8971B8371}"/>
              </a:ext>
            </a:extLst>
          </p:cNvPr>
          <p:cNvSpPr txBox="1"/>
          <p:nvPr/>
        </p:nvSpPr>
        <p:spPr>
          <a:xfrm>
            <a:off x="6942720" y="2691116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24DA82F-6CCF-41F4-85D2-BD0761B2F525}"/>
              </a:ext>
            </a:extLst>
          </p:cNvPr>
          <p:cNvSpPr txBox="1"/>
          <p:nvPr/>
        </p:nvSpPr>
        <p:spPr>
          <a:xfrm>
            <a:off x="7177527" y="3239505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F598CA1-5213-4684-9EF6-2ACE3FFE81C1}"/>
              </a:ext>
            </a:extLst>
          </p:cNvPr>
          <p:cNvSpPr txBox="1"/>
          <p:nvPr/>
        </p:nvSpPr>
        <p:spPr>
          <a:xfrm>
            <a:off x="4801584" y="4659459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CAC3236-D2AE-461E-A6EC-357A2DE462C5}"/>
              </a:ext>
            </a:extLst>
          </p:cNvPr>
          <p:cNvSpPr txBox="1"/>
          <p:nvPr/>
        </p:nvSpPr>
        <p:spPr>
          <a:xfrm>
            <a:off x="7642310" y="3392098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855DEF5-94AF-44D7-B428-0BD95B6BD869}"/>
              </a:ext>
            </a:extLst>
          </p:cNvPr>
          <p:cNvSpPr txBox="1"/>
          <p:nvPr/>
        </p:nvSpPr>
        <p:spPr>
          <a:xfrm>
            <a:off x="6898270" y="3562253"/>
            <a:ext cx="528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8FA1280-4BFB-41C6-BD30-051873D0BB61}"/>
              </a:ext>
            </a:extLst>
          </p:cNvPr>
          <p:cNvSpPr txBox="1"/>
          <p:nvPr/>
        </p:nvSpPr>
        <p:spPr>
          <a:xfrm>
            <a:off x="3193024" y="155359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A6DB7F7-9882-4858-9B67-E36F0FADF50A}"/>
              </a:ext>
            </a:extLst>
          </p:cNvPr>
          <p:cNvSpPr txBox="1"/>
          <p:nvPr/>
        </p:nvSpPr>
        <p:spPr>
          <a:xfrm>
            <a:off x="6822558" y="3778195"/>
            <a:ext cx="470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34ABDE6-67CE-4B46-844E-80543F3B1F7C}"/>
              </a:ext>
            </a:extLst>
          </p:cNvPr>
          <p:cNvSpPr txBox="1"/>
          <p:nvPr/>
        </p:nvSpPr>
        <p:spPr>
          <a:xfrm>
            <a:off x="9200423" y="355775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FD326B1-FF10-43E1-BAC1-332CC8D38576}"/>
              </a:ext>
            </a:extLst>
          </p:cNvPr>
          <p:cNvSpPr txBox="1"/>
          <p:nvPr/>
        </p:nvSpPr>
        <p:spPr>
          <a:xfrm>
            <a:off x="9000619" y="3771268"/>
            <a:ext cx="462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81438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2779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7.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토지담보대출</a:t>
            </a: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리파이낸싱</a:t>
            </a: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endParaRPr lang="ko-KR" altLang="en-US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DB0D817-60B7-41DC-814F-9FF74CB19388}"/>
              </a:ext>
            </a:extLst>
          </p:cNvPr>
          <p:cNvSpPr/>
          <p:nvPr/>
        </p:nvSpPr>
        <p:spPr>
          <a:xfrm>
            <a:off x="4226873" y="2786330"/>
            <a:ext cx="2257548" cy="22977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 dirty="0">
              <a:latin typeface="피플폰트 Light" panose="020B0600000101010101" charset="-127"/>
              <a:ea typeface="피플폰트 Light" panose="020B0600000101010101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6BDCF6-1F26-4815-8660-F8122AAB0012}"/>
              </a:ext>
            </a:extLst>
          </p:cNvPr>
          <p:cNvSpPr txBox="1"/>
          <p:nvPr/>
        </p:nvSpPr>
        <p:spPr>
          <a:xfrm>
            <a:off x="1612293" y="2696487"/>
            <a:ext cx="902307" cy="4284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담보신탁계약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graphicFrame>
        <p:nvGraphicFramePr>
          <p:cNvPr id="43" name="표 4">
            <a:extLst>
              <a:ext uri="{FF2B5EF4-FFF2-40B4-BE49-F238E27FC236}">
                <a16:creationId xmlns:a16="http://schemas.microsoft.com/office/drawing/2014/main" id="{FFE40C7D-28E5-427C-BF3A-07DFAB35A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160652"/>
              </p:ext>
            </p:extLst>
          </p:nvPr>
        </p:nvGraphicFramePr>
        <p:xfrm>
          <a:off x="4472654" y="3197919"/>
          <a:ext cx="1765984" cy="64140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765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56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Tranche A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15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[800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7317D7D8-1766-4455-8FBF-BA8D9A52D888}"/>
              </a:ext>
            </a:extLst>
          </p:cNvPr>
          <p:cNvCxnSpPr>
            <a:cxnSpLocks/>
          </p:cNvCxnSpPr>
          <p:nvPr/>
        </p:nvCxnSpPr>
        <p:spPr>
          <a:xfrm>
            <a:off x="1574916" y="2433905"/>
            <a:ext cx="0" cy="90648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E86CF7E-1492-4CDD-9EB2-9A4D7CF35493}"/>
              </a:ext>
            </a:extLst>
          </p:cNvPr>
          <p:cNvSpPr txBox="1"/>
          <p:nvPr/>
        </p:nvSpPr>
        <p:spPr>
          <a:xfrm>
            <a:off x="4370758" y="2872368"/>
            <a:ext cx="19421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 dirty="0">
                <a:latin typeface="피플폰트 Bold"/>
                <a:ea typeface="피플폰트 Bold"/>
              </a:rPr>
              <a:t>토지담보대출 </a:t>
            </a:r>
            <a:r>
              <a:rPr lang="en-US" altLang="ko-KR" sz="1000" b="1" u="sng" dirty="0">
                <a:latin typeface="피플폰트 Bold"/>
                <a:ea typeface="피플폰트 Bold"/>
              </a:rPr>
              <a:t>[940</a:t>
            </a:r>
            <a:r>
              <a:rPr lang="ko-KR" altLang="en-US" sz="1000" b="1" u="sng" dirty="0">
                <a:latin typeface="피플폰트 Bold"/>
                <a:ea typeface="피플폰트 Bold"/>
              </a:rPr>
              <a:t>억원</a:t>
            </a:r>
            <a:r>
              <a:rPr lang="en-US" altLang="ko-KR" sz="1000" b="1" u="sng" dirty="0">
                <a:latin typeface="피플폰트 Bold"/>
                <a:ea typeface="피플폰트 Bold"/>
              </a:rPr>
              <a:t>]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B940C0D-53E8-4763-9D34-921CF49DE9C5}"/>
              </a:ext>
            </a:extLst>
          </p:cNvPr>
          <p:cNvCxnSpPr>
            <a:cxnSpLocks/>
          </p:cNvCxnSpPr>
          <p:nvPr/>
        </p:nvCxnSpPr>
        <p:spPr>
          <a:xfrm flipV="1">
            <a:off x="2813787" y="3635990"/>
            <a:ext cx="1368000" cy="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graphicFrame>
        <p:nvGraphicFramePr>
          <p:cNvPr id="47" name="표 4">
            <a:extLst>
              <a:ext uri="{FF2B5EF4-FFF2-40B4-BE49-F238E27FC236}">
                <a16:creationId xmlns:a16="http://schemas.microsoft.com/office/drawing/2014/main" id="{B27DC42D-5405-4EE7-8461-49584E340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382204"/>
              </p:ext>
            </p:extLst>
          </p:nvPr>
        </p:nvGraphicFramePr>
        <p:xfrm>
          <a:off x="974652" y="1789230"/>
          <a:ext cx="1810882" cy="64467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810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786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신탁사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3932" marR="153932" marT="76966" marB="76966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519"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신영부동산신탁㈜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153932" marR="153932" marT="76966" marB="76966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" name="표 4">
            <a:extLst>
              <a:ext uri="{FF2B5EF4-FFF2-40B4-BE49-F238E27FC236}">
                <a16:creationId xmlns:a16="http://schemas.microsoft.com/office/drawing/2014/main" id="{7E66A522-ADD9-4E1F-AC1B-F0C50613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733229"/>
              </p:ext>
            </p:extLst>
          </p:nvPr>
        </p:nvGraphicFramePr>
        <p:xfrm>
          <a:off x="961050" y="3340394"/>
          <a:ext cx="1810882" cy="651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810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13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차주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0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남해종합건설㈜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" name="표 4">
            <a:extLst>
              <a:ext uri="{FF2B5EF4-FFF2-40B4-BE49-F238E27FC236}">
                <a16:creationId xmlns:a16="http://schemas.microsoft.com/office/drawing/2014/main" id="{08E40C5E-70B7-499C-A404-4525075C3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219906"/>
              </p:ext>
            </p:extLst>
          </p:nvPr>
        </p:nvGraphicFramePr>
        <p:xfrm>
          <a:off x="961050" y="4897963"/>
          <a:ext cx="1824484" cy="651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824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13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연대보증인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0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김형석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,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김응서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" name="표 4">
            <a:extLst>
              <a:ext uri="{FF2B5EF4-FFF2-40B4-BE49-F238E27FC236}">
                <a16:creationId xmlns:a16="http://schemas.microsoft.com/office/drawing/2014/main" id="{66B48BA7-36A2-4CA8-8C9D-5BF435333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858250"/>
              </p:ext>
            </p:extLst>
          </p:nvPr>
        </p:nvGraphicFramePr>
        <p:xfrm>
          <a:off x="4474333" y="3964491"/>
          <a:ext cx="1765984" cy="98019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765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53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Tranche B (</a:t>
                      </a: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본건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) / 140</a:t>
                      </a: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본건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SPC[40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타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투자자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[100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935653"/>
                  </a:ext>
                </a:extLst>
              </a:tr>
            </a:tbl>
          </a:graphicData>
        </a:graphic>
      </p:graphicFrame>
      <p:graphicFrame>
        <p:nvGraphicFramePr>
          <p:cNvPr id="51" name="표 4">
            <a:extLst>
              <a:ext uri="{FF2B5EF4-FFF2-40B4-BE49-F238E27FC236}">
                <a16:creationId xmlns:a16="http://schemas.microsoft.com/office/drawing/2014/main" id="{8A7E0CF3-B620-4077-8B30-38B40A727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358680"/>
              </p:ext>
            </p:extLst>
          </p:nvPr>
        </p:nvGraphicFramePr>
        <p:xfrm>
          <a:off x="7742058" y="4104120"/>
          <a:ext cx="1556970" cy="55883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3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사채권자</a:t>
                      </a:r>
                    </a:p>
                  </a:txBody>
                  <a:tcPr marL="153690" marR="153690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1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40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3690" marR="153690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825B2426-022F-44D4-B388-D0F32072C455}"/>
              </a:ext>
            </a:extLst>
          </p:cNvPr>
          <p:cNvSpPr txBox="1"/>
          <p:nvPr/>
        </p:nvSpPr>
        <p:spPr>
          <a:xfrm>
            <a:off x="2963673" y="3367745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토지담보대출 계약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425CD4D-F2FF-438C-B494-604E5EB39BDA}"/>
              </a:ext>
            </a:extLst>
          </p:cNvPr>
          <p:cNvCxnSpPr>
            <a:cxnSpLocks/>
          </p:cNvCxnSpPr>
          <p:nvPr/>
        </p:nvCxnSpPr>
        <p:spPr>
          <a:xfrm flipV="1">
            <a:off x="6285817" y="4431991"/>
            <a:ext cx="1440000" cy="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B32EC31-9161-4DFE-AE8F-756551B46FE2}"/>
              </a:ext>
            </a:extLst>
          </p:cNvPr>
          <p:cNvSpPr txBox="1"/>
          <p:nvPr/>
        </p:nvSpPr>
        <p:spPr>
          <a:xfrm>
            <a:off x="6492319" y="4146801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사모사채 발행</a:t>
            </a:r>
            <a:r>
              <a:rPr lang="en-US" altLang="ko-KR" sz="1000" b="1" dirty="0">
                <a:latin typeface="피플폰트 Bold"/>
                <a:ea typeface="피플폰트 Bold"/>
              </a:rPr>
              <a:t>/</a:t>
            </a:r>
            <a:r>
              <a:rPr lang="ko-KR" altLang="en-US" sz="1000" b="1" dirty="0">
                <a:latin typeface="피플폰트 Bold"/>
                <a:ea typeface="피플폰트 Bold"/>
              </a:rPr>
              <a:t>인수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23BF6F1E-B9B6-4BE2-8235-4392F3293166}"/>
              </a:ext>
            </a:extLst>
          </p:cNvPr>
          <p:cNvCxnSpPr>
            <a:cxnSpLocks/>
            <a:stCxn id="47" idx="3"/>
            <a:endCxn id="41" idx="0"/>
          </p:cNvCxnSpPr>
          <p:nvPr/>
        </p:nvCxnSpPr>
        <p:spPr>
          <a:xfrm>
            <a:off x="2785534" y="2111567"/>
            <a:ext cx="2570113" cy="674763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C715A7B-4F63-4DFC-AB96-6FD371908D1A}"/>
              </a:ext>
            </a:extLst>
          </p:cNvPr>
          <p:cNvSpPr txBox="1"/>
          <p:nvPr/>
        </p:nvSpPr>
        <p:spPr>
          <a:xfrm>
            <a:off x="3154329" y="1839669"/>
            <a:ext cx="196101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en-US" altLang="ko-KR" sz="1000" b="1" dirty="0">
                <a:latin typeface="피플폰트 Bold"/>
                <a:ea typeface="피플폰트 Bold"/>
              </a:rPr>
              <a:t>1, 2</a:t>
            </a:r>
            <a:r>
              <a:rPr lang="ko-KR" altLang="en-US" sz="1000" b="1" dirty="0">
                <a:latin typeface="피플폰트 Bold"/>
                <a:ea typeface="피플폰트 Bold"/>
              </a:rPr>
              <a:t>순위 우선수익권</a:t>
            </a:r>
            <a:r>
              <a:rPr lang="en-US" altLang="ko-KR" sz="1000" b="1" dirty="0">
                <a:latin typeface="피플폰트 Bold"/>
                <a:ea typeface="피플폰트 Bold"/>
              </a:rPr>
              <a:t>(</a:t>
            </a:r>
            <a:r>
              <a:rPr lang="ko-KR" altLang="en-US" sz="1000" b="1" dirty="0">
                <a:latin typeface="피플폰트 Bold"/>
                <a:ea typeface="피플폰트 Bold"/>
              </a:rPr>
              <a:t>대출금의 </a:t>
            </a:r>
            <a:r>
              <a:rPr lang="en-US" altLang="ko-KR" sz="1000" b="1" dirty="0">
                <a:latin typeface="피플폰트 Bold"/>
                <a:ea typeface="피플폰트 Bold"/>
              </a:rPr>
              <a:t>120%)</a:t>
            </a:r>
          </a:p>
        </p:txBody>
      </p: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235307C8-B273-4786-9BAD-B9F014B96DD2}"/>
              </a:ext>
            </a:extLst>
          </p:cNvPr>
          <p:cNvCxnSpPr>
            <a:cxnSpLocks/>
            <a:stCxn id="49" idx="3"/>
            <a:endCxn id="41" idx="2"/>
          </p:cNvCxnSpPr>
          <p:nvPr/>
        </p:nvCxnSpPr>
        <p:spPr>
          <a:xfrm flipV="1">
            <a:off x="2785534" y="5084112"/>
            <a:ext cx="2570113" cy="139391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DF710C4-9389-4B8F-BED2-980D51BA7AC8}"/>
              </a:ext>
            </a:extLst>
          </p:cNvPr>
          <p:cNvSpPr txBox="1"/>
          <p:nvPr/>
        </p:nvSpPr>
        <p:spPr>
          <a:xfrm>
            <a:off x="3345507" y="5266905"/>
            <a:ext cx="154258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연대보증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4C02B3F-09C8-4722-BDAF-AD242415D280}"/>
              </a:ext>
            </a:extLst>
          </p:cNvPr>
          <p:cNvSpPr txBox="1"/>
          <p:nvPr/>
        </p:nvSpPr>
        <p:spPr>
          <a:xfrm>
            <a:off x="794887" y="5645231"/>
            <a:ext cx="63445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" algn="just">
              <a:buNone/>
            </a:pPr>
            <a:r>
              <a:rPr lang="en-US" altLang="ko-KR" sz="800" b="1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anose="020B0604020202020204" pitchFamily="34" charset="0"/>
              </a:rPr>
              <a:t>(*) </a:t>
            </a:r>
            <a:r>
              <a:rPr lang="ko-KR" altLang="en-US" sz="800" b="1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anose="020B0604020202020204" pitchFamily="34" charset="0"/>
              </a:rPr>
              <a:t>대출원리금에 대한 연대보증</a:t>
            </a:r>
            <a:r>
              <a:rPr lang="en-US" altLang="ko-KR" sz="800" b="1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800" b="1" dirty="0" err="1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anose="020B0604020202020204" pitchFamily="34" charset="0"/>
              </a:rPr>
              <a:t>김응서</a:t>
            </a:r>
            <a:r>
              <a:rPr lang="ko-KR" altLang="en-US" sz="800" b="1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anose="020B0604020202020204" pitchFamily="34" charset="0"/>
              </a:rPr>
              <a:t> 회장 및 김형석 대표</a:t>
            </a:r>
            <a:r>
              <a:rPr lang="en-US" altLang="ko-KR" sz="800" b="1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800" b="1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anose="020B0604020202020204" pitchFamily="34" charset="0"/>
              </a:rPr>
              <a:t>회장의 子</a:t>
            </a:r>
            <a:r>
              <a:rPr lang="en-US" altLang="ko-KR" sz="800" b="1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anose="020B0604020202020204" pitchFamily="34" charset="0"/>
              </a:rPr>
              <a:t>))</a:t>
            </a:r>
          </a:p>
          <a:p>
            <a:pPr marL="46990" algn="just">
              <a:buNone/>
            </a:pPr>
            <a:r>
              <a:rPr lang="en-US" altLang="ko-KR" sz="800" b="1" dirty="0">
                <a:solidFill>
                  <a:srgbClr val="000000"/>
                </a:solidFill>
                <a:effectLst/>
                <a:latin typeface="피플폰트 Bold" panose="020B0600000101010101" pitchFamily="50" charset="-127"/>
                <a:ea typeface="피플폰트 Bold" panose="020B0600000101010101" pitchFamily="50" charset="-127"/>
                <a:cs typeface="Arial" panose="020B0604020202020204" pitchFamily="34" charset="0"/>
              </a:rPr>
              <a:t>(**) 27-1</a:t>
            </a:r>
            <a:r>
              <a:rPr lang="ko-KR" altLang="en-US" sz="800" b="1" dirty="0">
                <a:solidFill>
                  <a:srgbClr val="000000"/>
                </a:solidFill>
                <a:effectLst/>
                <a:latin typeface="피플폰트 Bold" panose="020B0600000101010101" pitchFamily="50" charset="-127"/>
                <a:ea typeface="피플폰트 Bold" panose="020B0600000101010101" pitchFamily="50" charset="-127"/>
                <a:cs typeface="Arial" panose="020B0604020202020204" pitchFamily="34" charset="0"/>
              </a:rPr>
              <a:t>번지 필지에 대한 </a:t>
            </a:r>
            <a:r>
              <a:rPr lang="en-US" altLang="ko-KR" sz="800" b="1" dirty="0">
                <a:solidFill>
                  <a:srgbClr val="000000"/>
                </a:solidFill>
                <a:effectLst/>
                <a:latin typeface="피플폰트 Bold" panose="020B0600000101010101" pitchFamily="50" charset="-127"/>
                <a:ea typeface="피플폰트 Bold" panose="020B0600000101010101" pitchFamily="50" charset="-127"/>
                <a:cs typeface="Arial" panose="020B0604020202020204" pitchFamily="34" charset="0"/>
              </a:rPr>
              <a:t>6/10 </a:t>
            </a:r>
            <a:r>
              <a:rPr lang="ko-KR" altLang="en-US" sz="800" b="1" dirty="0">
                <a:solidFill>
                  <a:srgbClr val="000000"/>
                </a:solidFill>
                <a:effectLst/>
                <a:latin typeface="피플폰트 Bold" panose="020B0600000101010101" pitchFamily="50" charset="-127"/>
                <a:ea typeface="피플폰트 Bold" panose="020B0600000101010101" pitchFamily="50" charset="-127"/>
                <a:cs typeface="Arial" panose="020B0604020202020204" pitchFamily="34" charset="0"/>
              </a:rPr>
              <a:t>지분 </a:t>
            </a:r>
            <a:r>
              <a:rPr lang="ko-KR" altLang="en-US" sz="800" b="1" dirty="0" err="1">
                <a:solidFill>
                  <a:srgbClr val="000000"/>
                </a:solidFill>
                <a:effectLst/>
                <a:latin typeface="피플폰트 Bold" panose="020B0600000101010101" pitchFamily="50" charset="-127"/>
                <a:ea typeface="피플폰트 Bold" panose="020B0600000101010101" pitchFamily="50" charset="-127"/>
                <a:cs typeface="Arial" panose="020B0604020202020204" pitchFamily="34" charset="0"/>
              </a:rPr>
              <a:t>김응서</a:t>
            </a:r>
            <a:r>
              <a:rPr lang="ko-KR" altLang="en-US" sz="800" b="1" dirty="0">
                <a:solidFill>
                  <a:srgbClr val="000000"/>
                </a:solidFill>
                <a:effectLst/>
                <a:latin typeface="피플폰트 Bold" panose="020B0600000101010101" pitchFamily="50" charset="-127"/>
                <a:ea typeface="피플폰트 Bold" panose="020B0600000101010101" pitchFamily="50" charset="-127"/>
                <a:cs typeface="Arial" panose="020B0604020202020204" pitchFamily="34" charset="0"/>
              </a:rPr>
              <a:t> 회장 물상보증</a:t>
            </a:r>
            <a:endParaRPr lang="ko-KR" altLang="ko-KR" sz="1000" b="1" dirty="0">
              <a:effectLst/>
              <a:latin typeface="피플폰트 Bold" panose="020B0600000101010101" pitchFamily="50" charset="-127"/>
              <a:ea typeface="피플폰트 Bold" panose="020B0600000101010101" pitchFamily="50" charset="-127"/>
              <a:cs typeface="Verdana" panose="020B060403050404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6D673C8-AB21-478E-A5B8-0040E7446C1C}"/>
              </a:ext>
            </a:extLst>
          </p:cNvPr>
          <p:cNvSpPr txBox="1"/>
          <p:nvPr/>
        </p:nvSpPr>
        <p:spPr>
          <a:xfrm>
            <a:off x="651376" y="176524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30F6FDE-A4FF-48C7-8B8E-009A1E8BA859}"/>
              </a:ext>
            </a:extLst>
          </p:cNvPr>
          <p:cNvSpPr txBox="1"/>
          <p:nvPr/>
        </p:nvSpPr>
        <p:spPr>
          <a:xfrm>
            <a:off x="537107" y="2154277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A5532BE-08A5-4918-BC9F-F101D98E22D3}"/>
              </a:ext>
            </a:extLst>
          </p:cNvPr>
          <p:cNvSpPr txBox="1"/>
          <p:nvPr/>
        </p:nvSpPr>
        <p:spPr>
          <a:xfrm flipH="1">
            <a:off x="246779" y="3388935"/>
            <a:ext cx="870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90890A4-7797-4547-AAE8-C2B5B377F4D4}"/>
              </a:ext>
            </a:extLst>
          </p:cNvPr>
          <p:cNvSpPr txBox="1"/>
          <p:nvPr/>
        </p:nvSpPr>
        <p:spPr>
          <a:xfrm flipH="1">
            <a:off x="-142565" y="3700825"/>
            <a:ext cx="1587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96FFD7D-6EBB-4358-B213-9CBC0907759F}"/>
              </a:ext>
            </a:extLst>
          </p:cNvPr>
          <p:cNvSpPr txBox="1"/>
          <p:nvPr/>
        </p:nvSpPr>
        <p:spPr>
          <a:xfrm>
            <a:off x="585188" y="491041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C5F856A-3233-4F1B-BAF4-E191BE6A5B60}"/>
              </a:ext>
            </a:extLst>
          </p:cNvPr>
          <p:cNvSpPr txBox="1"/>
          <p:nvPr/>
        </p:nvSpPr>
        <p:spPr>
          <a:xfrm>
            <a:off x="451326" y="5289521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E57C313-1778-442F-92EA-06081FB07DD7}"/>
              </a:ext>
            </a:extLst>
          </p:cNvPr>
          <p:cNvSpPr txBox="1"/>
          <p:nvPr/>
        </p:nvSpPr>
        <p:spPr>
          <a:xfrm>
            <a:off x="6343549" y="3190551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8D14C5D-0EF0-4AAC-BD60-ABF266DE0FE2}"/>
              </a:ext>
            </a:extLst>
          </p:cNvPr>
          <p:cNvSpPr txBox="1"/>
          <p:nvPr/>
        </p:nvSpPr>
        <p:spPr>
          <a:xfrm>
            <a:off x="6274482" y="3557500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82E9AB6-6685-46BD-9BF1-7A6DE0730E28}"/>
              </a:ext>
            </a:extLst>
          </p:cNvPr>
          <p:cNvSpPr txBox="1"/>
          <p:nvPr/>
        </p:nvSpPr>
        <p:spPr>
          <a:xfrm>
            <a:off x="4317817" y="284323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A0B22B3-AB05-4487-87A0-AAED9A24CA17}"/>
              </a:ext>
            </a:extLst>
          </p:cNvPr>
          <p:cNvSpPr txBox="1"/>
          <p:nvPr/>
        </p:nvSpPr>
        <p:spPr>
          <a:xfrm>
            <a:off x="6024105" y="398662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C55A566-9C62-4C67-946A-0A68B2F51891}"/>
              </a:ext>
            </a:extLst>
          </p:cNvPr>
          <p:cNvSpPr txBox="1"/>
          <p:nvPr/>
        </p:nvSpPr>
        <p:spPr>
          <a:xfrm>
            <a:off x="5951507" y="4264549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4BA85D6-8D8D-4785-AE98-838CB5512FB3}"/>
              </a:ext>
            </a:extLst>
          </p:cNvPr>
          <p:cNvSpPr txBox="1"/>
          <p:nvPr/>
        </p:nvSpPr>
        <p:spPr>
          <a:xfrm>
            <a:off x="5953287" y="4610495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-2</a:t>
            </a:r>
            <a:endParaRPr lang="ko-KR" altLang="en-US" sz="12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8E4D1D0-57F2-4E90-AD5D-65E5BA3E1C7D}"/>
              </a:ext>
            </a:extLst>
          </p:cNvPr>
          <p:cNvSpPr txBox="1"/>
          <p:nvPr/>
        </p:nvSpPr>
        <p:spPr>
          <a:xfrm>
            <a:off x="8751770" y="4102602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73614C2-C665-4218-8827-04886BBDA0E7}"/>
              </a:ext>
            </a:extLst>
          </p:cNvPr>
          <p:cNvSpPr txBox="1"/>
          <p:nvPr/>
        </p:nvSpPr>
        <p:spPr>
          <a:xfrm>
            <a:off x="8751769" y="4395929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4831A81-1A5C-4B99-8F0B-B0AB37737D73}"/>
              </a:ext>
            </a:extLst>
          </p:cNvPr>
          <p:cNvSpPr txBox="1"/>
          <p:nvPr/>
        </p:nvSpPr>
        <p:spPr>
          <a:xfrm>
            <a:off x="3139853" y="163145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931B69-8EAB-4158-8F7B-685359B9C582}"/>
              </a:ext>
            </a:extLst>
          </p:cNvPr>
          <p:cNvSpPr txBox="1"/>
          <p:nvPr/>
        </p:nvSpPr>
        <p:spPr>
          <a:xfrm flipH="1">
            <a:off x="1349150" y="2566231"/>
            <a:ext cx="870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24B01E2-B591-4B55-93AF-8C9D76401F06}"/>
              </a:ext>
            </a:extLst>
          </p:cNvPr>
          <p:cNvSpPr txBox="1"/>
          <p:nvPr/>
        </p:nvSpPr>
        <p:spPr>
          <a:xfrm>
            <a:off x="2912729" y="313353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9B0F55D-8173-4EA8-851F-92137BB33DCE}"/>
              </a:ext>
            </a:extLst>
          </p:cNvPr>
          <p:cNvSpPr txBox="1"/>
          <p:nvPr/>
        </p:nvSpPr>
        <p:spPr>
          <a:xfrm>
            <a:off x="3606079" y="522350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D760412-96C6-4F0A-8718-B058FB9EC79E}"/>
              </a:ext>
            </a:extLst>
          </p:cNvPr>
          <p:cNvSpPr txBox="1"/>
          <p:nvPr/>
        </p:nvSpPr>
        <p:spPr>
          <a:xfrm>
            <a:off x="6873935" y="3924581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2766015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2811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8.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토지담보대출</a:t>
            </a: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리파이낸싱</a:t>
            </a: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endParaRPr lang="ko-KR" altLang="en-US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8CB5483-7D6E-4602-92F8-DA75DE9D72DF}"/>
              </a:ext>
            </a:extLst>
          </p:cNvPr>
          <p:cNvSpPr/>
          <p:nvPr/>
        </p:nvSpPr>
        <p:spPr>
          <a:xfrm>
            <a:off x="5859505" y="2676891"/>
            <a:ext cx="1756841" cy="21960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 dirty="0">
              <a:latin typeface="피플폰트 Light" panose="020B0600000101010101" charset="-127"/>
              <a:ea typeface="피플폰트 Light" panose="020B0600000101010101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8D5C00-EE0B-4A74-A1BB-F24702B18B37}"/>
              </a:ext>
            </a:extLst>
          </p:cNvPr>
          <p:cNvSpPr txBox="1"/>
          <p:nvPr/>
        </p:nvSpPr>
        <p:spPr>
          <a:xfrm>
            <a:off x="3877423" y="2569487"/>
            <a:ext cx="902307" cy="4284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담보신탁계약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graphicFrame>
        <p:nvGraphicFramePr>
          <p:cNvPr id="60" name="표 4">
            <a:extLst>
              <a:ext uri="{FF2B5EF4-FFF2-40B4-BE49-F238E27FC236}">
                <a16:creationId xmlns:a16="http://schemas.microsoft.com/office/drawing/2014/main" id="{0245D6C2-7F83-49B3-87C1-5A8149868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519025"/>
              </p:ext>
            </p:extLst>
          </p:nvPr>
        </p:nvGraphicFramePr>
        <p:xfrm>
          <a:off x="5907712" y="3070919"/>
          <a:ext cx="1587803" cy="73420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87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1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Tranche A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8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[1,050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C86B4247-41D7-4E01-ACA9-99079E40BB90}"/>
              </a:ext>
            </a:extLst>
          </p:cNvPr>
          <p:cNvSpPr txBox="1"/>
          <p:nvPr/>
        </p:nvSpPr>
        <p:spPr>
          <a:xfrm>
            <a:off x="5729624" y="2745368"/>
            <a:ext cx="19421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 dirty="0">
                <a:latin typeface="피플폰트 Bold"/>
                <a:ea typeface="피플폰트 Bold"/>
              </a:rPr>
              <a:t>담보대출 </a:t>
            </a:r>
            <a:r>
              <a:rPr lang="en-US" altLang="ko-KR" sz="1000" b="1" u="sng" dirty="0">
                <a:latin typeface="피플폰트 Bold"/>
                <a:ea typeface="피플폰트 Bold"/>
              </a:rPr>
              <a:t>[1,200</a:t>
            </a:r>
            <a:r>
              <a:rPr lang="ko-KR" altLang="en-US" sz="1000" b="1" u="sng" dirty="0">
                <a:latin typeface="피플폰트 Bold"/>
                <a:ea typeface="피플폰트 Bold"/>
              </a:rPr>
              <a:t>억원</a:t>
            </a:r>
            <a:r>
              <a:rPr lang="en-US" altLang="ko-KR" sz="1000" b="1" u="sng" dirty="0">
                <a:latin typeface="피플폰트 Bold"/>
                <a:ea typeface="피플폰트 Bold"/>
              </a:rPr>
              <a:t>]</a:t>
            </a:r>
          </a:p>
        </p:txBody>
      </p:sp>
      <p:graphicFrame>
        <p:nvGraphicFramePr>
          <p:cNvPr id="62" name="표 4">
            <a:extLst>
              <a:ext uri="{FF2B5EF4-FFF2-40B4-BE49-F238E27FC236}">
                <a16:creationId xmlns:a16="http://schemas.microsoft.com/office/drawing/2014/main" id="{6125A74F-6BD7-4F21-9747-871023C96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135329"/>
              </p:ext>
            </p:extLst>
          </p:nvPr>
        </p:nvGraphicFramePr>
        <p:xfrm>
          <a:off x="3036588" y="1662230"/>
          <a:ext cx="1743237" cy="64138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74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786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신탁사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3932" marR="153932" marT="76966" marB="76966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519"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defRPr/>
                      </a:pPr>
                      <a:r>
                        <a:rPr lang="ko-KR" altLang="en-US" sz="1000" b="1" kern="1200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신영부동산산신탁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153932" marR="153932" marT="76966" marB="76966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3" name="표 4">
            <a:extLst>
              <a:ext uri="{FF2B5EF4-FFF2-40B4-BE49-F238E27FC236}">
                <a16:creationId xmlns:a16="http://schemas.microsoft.com/office/drawing/2014/main" id="{3F220115-3A04-420E-BA34-13FA2F63B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101716"/>
              </p:ext>
            </p:extLst>
          </p:nvPr>
        </p:nvGraphicFramePr>
        <p:xfrm>
          <a:off x="3022986" y="3213394"/>
          <a:ext cx="1756840" cy="624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756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13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차주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0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㈜</a:t>
                      </a:r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제이피개발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6" name="표 4">
            <a:extLst>
              <a:ext uri="{FF2B5EF4-FFF2-40B4-BE49-F238E27FC236}">
                <a16:creationId xmlns:a16="http://schemas.microsoft.com/office/drawing/2014/main" id="{EFB645FB-0576-4863-930F-3A05EC686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036070"/>
              </p:ext>
            </p:extLst>
          </p:nvPr>
        </p:nvGraphicFramePr>
        <p:xfrm>
          <a:off x="2854237" y="4757930"/>
          <a:ext cx="2228898" cy="123800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228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13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출자사겸투자자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587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제이피평화빌딩일반사모투자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19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호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6067" marR="156067" marT="78033" marB="78033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8" name="표 4">
            <a:extLst>
              <a:ext uri="{FF2B5EF4-FFF2-40B4-BE49-F238E27FC236}">
                <a16:creationId xmlns:a16="http://schemas.microsoft.com/office/drawing/2014/main" id="{37D01373-4610-4C3F-8535-D3AD128D8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192270"/>
              </p:ext>
            </p:extLst>
          </p:nvPr>
        </p:nvGraphicFramePr>
        <p:xfrm>
          <a:off x="8308400" y="3941768"/>
          <a:ext cx="1177943" cy="73313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177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5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SPC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3690" marR="153690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5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[37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</a:p>
                  </a:txBody>
                  <a:tcPr marL="153690" marR="153690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0" name="TextBox 69">
            <a:extLst>
              <a:ext uri="{FF2B5EF4-FFF2-40B4-BE49-F238E27FC236}">
                <a16:creationId xmlns:a16="http://schemas.microsoft.com/office/drawing/2014/main" id="{6728518F-F8F7-4395-8182-3AC01BAB0A63}"/>
              </a:ext>
            </a:extLst>
          </p:cNvPr>
          <p:cNvSpPr txBox="1"/>
          <p:nvPr/>
        </p:nvSpPr>
        <p:spPr>
          <a:xfrm>
            <a:off x="4768790" y="3308478"/>
            <a:ext cx="1159020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>
                <a:latin typeface="피플폰트 Bold"/>
                <a:ea typeface="피플폰트 Bold"/>
              </a:rPr>
              <a:t>담보대출 약정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147BD9C-E5E4-488F-A531-6114C445FFA4}"/>
              </a:ext>
            </a:extLst>
          </p:cNvPr>
          <p:cNvSpPr txBox="1"/>
          <p:nvPr/>
        </p:nvSpPr>
        <p:spPr>
          <a:xfrm>
            <a:off x="7552938" y="4013735"/>
            <a:ext cx="77598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대출양수도</a:t>
            </a:r>
            <a:endParaRPr lang="en-US" altLang="ko-KR" sz="1000" b="1" dirty="0">
              <a:latin typeface="피플폰트 Bold"/>
              <a:ea typeface="피플폰트 Bold"/>
            </a:endParaRPr>
          </a:p>
          <a:p>
            <a:pPr algn="ctr">
              <a:defRPr/>
            </a:pPr>
            <a:r>
              <a:rPr lang="en-US" altLang="ko-KR" sz="1000" b="1" dirty="0">
                <a:latin typeface="피플폰트 Bold"/>
                <a:ea typeface="피플폰트 Bold"/>
              </a:rPr>
              <a:t>(37</a:t>
            </a:r>
            <a:r>
              <a:rPr lang="ko-KR" altLang="en-US" sz="1000" b="1" dirty="0">
                <a:latin typeface="피플폰트 Bold"/>
                <a:ea typeface="피플폰트 Bold"/>
              </a:rPr>
              <a:t>억원</a:t>
            </a:r>
            <a:r>
              <a:rPr lang="en-US" altLang="ko-KR" sz="1000" b="1" dirty="0">
                <a:latin typeface="피플폰트 Bold"/>
                <a:ea typeface="피플폰트 Bold"/>
              </a:rPr>
              <a:t>17)</a:t>
            </a:r>
          </a:p>
        </p:txBody>
      </p: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082712F9-9773-4DD1-B6DD-01146CC1B424}"/>
              </a:ext>
            </a:extLst>
          </p:cNvPr>
          <p:cNvCxnSpPr>
            <a:cxnSpLocks/>
            <a:stCxn id="62" idx="3"/>
            <a:endCxn id="57" idx="0"/>
          </p:cNvCxnSpPr>
          <p:nvPr/>
        </p:nvCxnSpPr>
        <p:spPr>
          <a:xfrm>
            <a:off x="4779825" y="1982921"/>
            <a:ext cx="1958101" cy="693970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F75E4FD-FA44-470B-901A-1A6A91BF0E12}"/>
              </a:ext>
            </a:extLst>
          </p:cNvPr>
          <p:cNvSpPr txBox="1"/>
          <p:nvPr/>
        </p:nvSpPr>
        <p:spPr>
          <a:xfrm>
            <a:off x="4827151" y="1704137"/>
            <a:ext cx="2201318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순위별 우선수익권 제공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graphicFrame>
        <p:nvGraphicFramePr>
          <p:cNvPr id="74" name="표 4">
            <a:extLst>
              <a:ext uri="{FF2B5EF4-FFF2-40B4-BE49-F238E27FC236}">
                <a16:creationId xmlns:a16="http://schemas.microsoft.com/office/drawing/2014/main" id="{234A1EFD-6871-4C4C-948E-6B4B6956E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466108"/>
              </p:ext>
            </p:extLst>
          </p:nvPr>
        </p:nvGraphicFramePr>
        <p:xfrm>
          <a:off x="650874" y="2732255"/>
          <a:ext cx="1595742" cy="165070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95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98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9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담보물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971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평화빌딩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D4A625CA-B303-4C05-8F10-C5225346C716}"/>
              </a:ext>
            </a:extLst>
          </p:cNvPr>
          <p:cNvCxnSpPr>
            <a:cxnSpLocks/>
          </p:cNvCxnSpPr>
          <p:nvPr/>
        </p:nvCxnSpPr>
        <p:spPr>
          <a:xfrm>
            <a:off x="2277765" y="3565577"/>
            <a:ext cx="74522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5AC7B61-95AB-4E03-A607-62F314C6490B}"/>
              </a:ext>
            </a:extLst>
          </p:cNvPr>
          <p:cNvSpPr txBox="1"/>
          <p:nvPr/>
        </p:nvSpPr>
        <p:spPr>
          <a:xfrm>
            <a:off x="2123570" y="3604084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en-US" altLang="ko-KR" sz="1000" b="1" dirty="0">
                <a:latin typeface="피플폰트 Bold"/>
                <a:ea typeface="피플폰트 Bold"/>
              </a:rPr>
              <a:t>Equity </a:t>
            </a:r>
            <a:r>
              <a:rPr lang="ko-KR" altLang="en-US" sz="1000" b="1" dirty="0">
                <a:latin typeface="피플폰트 Bold"/>
                <a:ea typeface="피플폰트 Bold"/>
              </a:rPr>
              <a:t>투자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350C3098-9948-4547-9AAB-46895A92F213}"/>
              </a:ext>
            </a:extLst>
          </p:cNvPr>
          <p:cNvCxnSpPr>
            <a:cxnSpLocks/>
          </p:cNvCxnSpPr>
          <p:nvPr/>
        </p:nvCxnSpPr>
        <p:spPr>
          <a:xfrm>
            <a:off x="3877423" y="3893930"/>
            <a:ext cx="0" cy="86400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1A7D1B7-E736-4EE6-9913-433D8CCF6CCF}"/>
              </a:ext>
            </a:extLst>
          </p:cNvPr>
          <p:cNvSpPr txBox="1"/>
          <p:nvPr/>
        </p:nvSpPr>
        <p:spPr>
          <a:xfrm>
            <a:off x="3806554" y="4188652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en-US" altLang="ko-KR" sz="1000" b="1" dirty="0">
                <a:latin typeface="피플폰트 Bold"/>
                <a:ea typeface="피플폰트 Bold"/>
              </a:rPr>
              <a:t>Equity </a:t>
            </a:r>
            <a:r>
              <a:rPr lang="ko-KR" altLang="en-US" sz="1000" b="1" dirty="0">
                <a:latin typeface="피플폰트 Bold"/>
                <a:ea typeface="피플폰트 Bold"/>
              </a:rPr>
              <a:t>출자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1B6627E4-5099-4557-A3DA-4AAA7B5602F9}"/>
              </a:ext>
            </a:extLst>
          </p:cNvPr>
          <p:cNvCxnSpPr>
            <a:cxnSpLocks/>
          </p:cNvCxnSpPr>
          <p:nvPr/>
        </p:nvCxnSpPr>
        <p:spPr>
          <a:xfrm flipV="1">
            <a:off x="4823777" y="3571672"/>
            <a:ext cx="1058615" cy="764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표 4">
            <a:extLst>
              <a:ext uri="{FF2B5EF4-FFF2-40B4-BE49-F238E27FC236}">
                <a16:creationId xmlns:a16="http://schemas.microsoft.com/office/drawing/2014/main" id="{ADB30A48-93A6-40E7-B124-A807BC70B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398879"/>
              </p:ext>
            </p:extLst>
          </p:nvPr>
        </p:nvGraphicFramePr>
        <p:xfrm>
          <a:off x="5907711" y="3941768"/>
          <a:ext cx="1589484" cy="73420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89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1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Tranche B (</a:t>
                      </a: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본건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)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8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[150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0A5F8612-BC25-47AA-9052-9D4D5DFE9CCD}"/>
              </a:ext>
            </a:extLst>
          </p:cNvPr>
          <p:cNvCxnSpPr>
            <a:cxnSpLocks/>
          </p:cNvCxnSpPr>
          <p:nvPr/>
        </p:nvCxnSpPr>
        <p:spPr>
          <a:xfrm>
            <a:off x="7510932" y="4323151"/>
            <a:ext cx="767408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512EF27C-CB1A-4053-8733-08B5BEFB0B68}"/>
              </a:ext>
            </a:extLst>
          </p:cNvPr>
          <p:cNvCxnSpPr>
            <a:cxnSpLocks/>
          </p:cNvCxnSpPr>
          <p:nvPr/>
        </p:nvCxnSpPr>
        <p:spPr>
          <a:xfrm>
            <a:off x="3911291" y="2349394"/>
            <a:ext cx="0" cy="86400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C51913E1-0316-4213-A184-9D0AEFB71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973477"/>
              </p:ext>
            </p:extLst>
          </p:nvPr>
        </p:nvGraphicFramePr>
        <p:xfrm>
          <a:off x="2961436" y="5373656"/>
          <a:ext cx="2035174" cy="5237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376">
                  <a:extLst>
                    <a:ext uri="{9D8B030D-6E8A-4147-A177-3AD203B41FA5}">
                      <a16:colId xmlns:a16="http://schemas.microsoft.com/office/drawing/2014/main" val="964283661"/>
                    </a:ext>
                  </a:extLst>
                </a:gridCol>
                <a:gridCol w="662269">
                  <a:extLst>
                    <a:ext uri="{9D8B030D-6E8A-4147-A177-3AD203B41FA5}">
                      <a16:colId xmlns:a16="http://schemas.microsoft.com/office/drawing/2014/main" val="2334948096"/>
                    </a:ext>
                  </a:extLst>
                </a:gridCol>
                <a:gridCol w="440594">
                  <a:extLst>
                    <a:ext uri="{9D8B030D-6E8A-4147-A177-3AD203B41FA5}">
                      <a16:colId xmlns:a16="http://schemas.microsoft.com/office/drawing/2014/main" val="4140807525"/>
                    </a:ext>
                  </a:extLst>
                </a:gridCol>
                <a:gridCol w="471935">
                  <a:extLst>
                    <a:ext uri="{9D8B030D-6E8A-4147-A177-3AD203B41FA5}">
                      <a16:colId xmlns:a16="http://schemas.microsoft.com/office/drawing/2014/main" val="963769933"/>
                    </a:ext>
                  </a:extLst>
                </a:gridCol>
              </a:tblGrid>
              <a:tr h="817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lt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lt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투자자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lt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투자금액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lt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비율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177148"/>
                  </a:ext>
                </a:extLst>
              </a:tr>
              <a:tr h="1339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보통주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㈜</a:t>
                      </a: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지코어이엔지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465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억원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82.3%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265751"/>
                  </a:ext>
                </a:extLst>
              </a:tr>
              <a:tr h="133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종우선주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유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케이타운투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100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억원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17.7%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488869"/>
                  </a:ext>
                </a:extLst>
              </a:tr>
              <a:tr h="1339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합계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565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억원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100%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90830"/>
                  </a:ext>
                </a:extLst>
              </a:tr>
            </a:tbl>
          </a:graphicData>
        </a:graphic>
      </p:graphicFrame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7A59F3BD-01F9-4D67-9CD2-C681D65221DC}"/>
              </a:ext>
            </a:extLst>
          </p:cNvPr>
          <p:cNvCxnSpPr>
            <a:cxnSpLocks/>
          </p:cNvCxnSpPr>
          <p:nvPr/>
        </p:nvCxnSpPr>
        <p:spPr>
          <a:xfrm>
            <a:off x="8898693" y="4717842"/>
            <a:ext cx="0" cy="86400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1905B1C-30E7-46C8-A21A-950AE0402A30}"/>
              </a:ext>
            </a:extLst>
          </p:cNvPr>
          <p:cNvSpPr txBox="1"/>
          <p:nvPr/>
        </p:nvSpPr>
        <p:spPr>
          <a:xfrm>
            <a:off x="7781595" y="5069513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사모사채 </a:t>
            </a:r>
            <a:r>
              <a:rPr lang="ko-KR" altLang="en-US" sz="1000" b="1">
                <a:latin typeface="피플폰트 Bold"/>
                <a:ea typeface="피플폰트 Bold"/>
              </a:rPr>
              <a:t>발행</a:t>
            </a:r>
            <a:r>
              <a:rPr lang="en-US" altLang="ko-KR" sz="1000" b="1" dirty="0">
                <a:latin typeface="피플폰트 Bold"/>
                <a:ea typeface="피플폰트 Bold"/>
              </a:rPr>
              <a:t>/</a:t>
            </a:r>
            <a:r>
              <a:rPr lang="ko-KR" altLang="en-US" sz="1000" b="1" dirty="0">
                <a:latin typeface="피플폰트 Bold"/>
                <a:ea typeface="피플폰트 Bold"/>
              </a:rPr>
              <a:t>인수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graphicFrame>
        <p:nvGraphicFramePr>
          <p:cNvPr id="104" name="표 4">
            <a:extLst>
              <a:ext uri="{FF2B5EF4-FFF2-40B4-BE49-F238E27FC236}">
                <a16:creationId xmlns:a16="http://schemas.microsoft.com/office/drawing/2014/main" id="{98147A24-1E07-4939-9176-2BA75F9FE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820995"/>
              </p:ext>
            </p:extLst>
          </p:nvPr>
        </p:nvGraphicFramePr>
        <p:xfrm>
          <a:off x="8301265" y="5629371"/>
          <a:ext cx="1177943" cy="36656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177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5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투자자</a:t>
                      </a:r>
                    </a:p>
                  </a:txBody>
                  <a:tcPr marL="153690" marR="153690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5" name="TextBox 104">
            <a:extLst>
              <a:ext uri="{FF2B5EF4-FFF2-40B4-BE49-F238E27FC236}">
                <a16:creationId xmlns:a16="http://schemas.microsoft.com/office/drawing/2014/main" id="{37FAD676-F4DF-4D65-B882-EE0A17AFA8FF}"/>
              </a:ext>
            </a:extLst>
          </p:cNvPr>
          <p:cNvSpPr txBox="1"/>
          <p:nvPr/>
        </p:nvSpPr>
        <p:spPr>
          <a:xfrm>
            <a:off x="351058" y="2745368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EBF662A-AF91-4AE5-AE76-AE0B51B551B3}"/>
              </a:ext>
            </a:extLst>
          </p:cNvPr>
          <p:cNvSpPr txBox="1"/>
          <p:nvPr/>
        </p:nvSpPr>
        <p:spPr>
          <a:xfrm>
            <a:off x="236789" y="3134405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AE86ED7-A7AB-4211-A92D-A1F6DF68F4EA}"/>
              </a:ext>
            </a:extLst>
          </p:cNvPr>
          <p:cNvSpPr txBox="1"/>
          <p:nvPr/>
        </p:nvSpPr>
        <p:spPr>
          <a:xfrm flipH="1">
            <a:off x="2449640" y="1653577"/>
            <a:ext cx="870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6720064-67A3-4090-B3EA-5ED51BD2BA36}"/>
              </a:ext>
            </a:extLst>
          </p:cNvPr>
          <p:cNvSpPr txBox="1"/>
          <p:nvPr/>
        </p:nvSpPr>
        <p:spPr>
          <a:xfrm flipH="1">
            <a:off x="2060296" y="1965467"/>
            <a:ext cx="1587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2C7C381-792E-4F5E-BB73-A80910A80419}"/>
              </a:ext>
            </a:extLst>
          </p:cNvPr>
          <p:cNvSpPr txBox="1"/>
          <p:nvPr/>
        </p:nvSpPr>
        <p:spPr>
          <a:xfrm>
            <a:off x="3563341" y="2976357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D6B433C-FE84-4A62-948E-16EA7781E031}"/>
              </a:ext>
            </a:extLst>
          </p:cNvPr>
          <p:cNvSpPr txBox="1"/>
          <p:nvPr/>
        </p:nvSpPr>
        <p:spPr>
          <a:xfrm>
            <a:off x="3036588" y="3580488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BB8FE76-B447-46EE-803E-92F36B6168FB}"/>
              </a:ext>
            </a:extLst>
          </p:cNvPr>
          <p:cNvSpPr txBox="1"/>
          <p:nvPr/>
        </p:nvSpPr>
        <p:spPr>
          <a:xfrm>
            <a:off x="3566299" y="4552688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78048C8-0421-4C36-9ADD-8AF72B6C3E2E}"/>
              </a:ext>
            </a:extLst>
          </p:cNvPr>
          <p:cNvSpPr txBox="1"/>
          <p:nvPr/>
        </p:nvSpPr>
        <p:spPr>
          <a:xfrm>
            <a:off x="2449640" y="5069513"/>
            <a:ext cx="528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888E7A6-6F8F-465D-B8FD-5E83B9F1CCAE}"/>
              </a:ext>
            </a:extLst>
          </p:cNvPr>
          <p:cNvSpPr txBox="1"/>
          <p:nvPr/>
        </p:nvSpPr>
        <p:spPr>
          <a:xfrm>
            <a:off x="7280270" y="3999800"/>
            <a:ext cx="198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EEC310C-7D1D-462B-99F3-A1E6C2B41A7D}"/>
              </a:ext>
            </a:extLst>
          </p:cNvPr>
          <p:cNvSpPr txBox="1"/>
          <p:nvPr/>
        </p:nvSpPr>
        <p:spPr>
          <a:xfrm>
            <a:off x="9091933" y="3985864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8227549-FA2E-429F-9F4D-D296EA880025}"/>
              </a:ext>
            </a:extLst>
          </p:cNvPr>
          <p:cNvSpPr txBox="1"/>
          <p:nvPr/>
        </p:nvSpPr>
        <p:spPr>
          <a:xfrm>
            <a:off x="7213535" y="310386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AAB56FD-FBF4-4E40-A4D8-801C6323F83A}"/>
              </a:ext>
            </a:extLst>
          </p:cNvPr>
          <p:cNvSpPr txBox="1"/>
          <p:nvPr/>
        </p:nvSpPr>
        <p:spPr>
          <a:xfrm>
            <a:off x="7171553" y="3477139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0040983-3BC5-4BBE-A4AE-2AE0BA71E477}"/>
              </a:ext>
            </a:extLst>
          </p:cNvPr>
          <p:cNvSpPr txBox="1"/>
          <p:nvPr/>
        </p:nvSpPr>
        <p:spPr>
          <a:xfrm>
            <a:off x="7301499" y="2716940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11FA662-9480-4EE8-AD88-A4B2FF5FD8CE}"/>
              </a:ext>
            </a:extLst>
          </p:cNvPr>
          <p:cNvSpPr txBox="1"/>
          <p:nvPr/>
        </p:nvSpPr>
        <p:spPr>
          <a:xfrm>
            <a:off x="7126557" y="4358957"/>
            <a:ext cx="459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69FC0A0-B560-4681-A78D-E42BF85B8D5C}"/>
              </a:ext>
            </a:extLst>
          </p:cNvPr>
          <p:cNvSpPr txBox="1"/>
          <p:nvPr/>
        </p:nvSpPr>
        <p:spPr>
          <a:xfrm>
            <a:off x="9042746" y="4339944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8415150-5215-4618-959C-187490B85E95}"/>
              </a:ext>
            </a:extLst>
          </p:cNvPr>
          <p:cNvSpPr txBox="1"/>
          <p:nvPr/>
        </p:nvSpPr>
        <p:spPr>
          <a:xfrm>
            <a:off x="9075620" y="5758899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B86E029-AD54-4295-9A08-7A82D13C053D}"/>
              </a:ext>
            </a:extLst>
          </p:cNvPr>
          <p:cNvSpPr txBox="1"/>
          <p:nvPr/>
        </p:nvSpPr>
        <p:spPr>
          <a:xfrm>
            <a:off x="5366773" y="1458407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7FD9E2B-8D6B-4E9D-A9AF-8A70897D7D04}"/>
              </a:ext>
            </a:extLst>
          </p:cNvPr>
          <p:cNvSpPr txBox="1"/>
          <p:nvPr/>
        </p:nvSpPr>
        <p:spPr>
          <a:xfrm flipH="1">
            <a:off x="3728824" y="2458238"/>
            <a:ext cx="870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1E629EB-7E72-41EE-9726-FF183C7B2CEE}"/>
              </a:ext>
            </a:extLst>
          </p:cNvPr>
          <p:cNvSpPr txBox="1"/>
          <p:nvPr/>
        </p:nvSpPr>
        <p:spPr>
          <a:xfrm>
            <a:off x="2437806" y="3771707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BA7E739-0338-4780-B19A-B9B2C2929E04}"/>
              </a:ext>
            </a:extLst>
          </p:cNvPr>
          <p:cNvSpPr txBox="1"/>
          <p:nvPr/>
        </p:nvSpPr>
        <p:spPr>
          <a:xfrm>
            <a:off x="3989368" y="397778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535FBEC-726A-4EB9-8BEF-ED63AC9C7086}"/>
              </a:ext>
            </a:extLst>
          </p:cNvPr>
          <p:cNvSpPr txBox="1"/>
          <p:nvPr/>
        </p:nvSpPr>
        <p:spPr>
          <a:xfrm>
            <a:off x="5168032" y="3065207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FE14B03-DEED-47F7-AF60-9A984B4405AE}"/>
              </a:ext>
            </a:extLst>
          </p:cNvPr>
          <p:cNvSpPr txBox="1"/>
          <p:nvPr/>
        </p:nvSpPr>
        <p:spPr>
          <a:xfrm>
            <a:off x="7776147" y="3678807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863BC2C-B88A-43E2-8F57-6F32C673F612}"/>
              </a:ext>
            </a:extLst>
          </p:cNvPr>
          <p:cNvSpPr txBox="1"/>
          <p:nvPr/>
        </p:nvSpPr>
        <p:spPr>
          <a:xfrm>
            <a:off x="7551681" y="5079141"/>
            <a:ext cx="198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</p:spTree>
    <p:extLst>
      <p:ext uri="{BB962C8B-B14F-4D97-AF65-F5344CB8AC3E}">
        <p14:creationId xmlns:p14="http://schemas.microsoft.com/office/powerpoint/2010/main" val="1727504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9.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2B776B6-3861-456F-AFC8-6481A3CEE03D}"/>
              </a:ext>
            </a:extLst>
          </p:cNvPr>
          <p:cNvSpPr/>
          <p:nvPr/>
        </p:nvSpPr>
        <p:spPr>
          <a:xfrm>
            <a:off x="4212059" y="2074133"/>
            <a:ext cx="2409326" cy="30661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F44BC8-F289-4368-A797-6C58CE915506}"/>
              </a:ext>
            </a:extLst>
          </p:cNvPr>
          <p:cNvSpPr txBox="1"/>
          <p:nvPr/>
        </p:nvSpPr>
        <p:spPr>
          <a:xfrm>
            <a:off x="4281471" y="2100143"/>
            <a:ext cx="22564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 dirty="0">
                <a:latin typeface="피플폰트 Bold"/>
                <a:ea typeface="피플폰트 Bold"/>
              </a:rPr>
              <a:t>담보대출금 </a:t>
            </a:r>
            <a:r>
              <a:rPr lang="en-US" altLang="ko-KR" sz="1000" b="1" u="sng" dirty="0">
                <a:latin typeface="피플폰트 Bold"/>
                <a:ea typeface="피플폰트 Bold"/>
              </a:rPr>
              <a:t>[1,640</a:t>
            </a:r>
            <a:r>
              <a:rPr lang="ko-KR" altLang="en-US" sz="1000" b="1" u="sng" dirty="0">
                <a:latin typeface="피플폰트 Bold"/>
                <a:ea typeface="피플폰트 Bold"/>
              </a:rPr>
              <a:t>억원</a:t>
            </a:r>
            <a:r>
              <a:rPr lang="en-US" altLang="ko-KR" sz="1000" b="1" u="sng" dirty="0">
                <a:latin typeface="피플폰트 Bold"/>
                <a:ea typeface="피플폰트 Bold"/>
              </a:rPr>
              <a:t>]</a:t>
            </a:r>
          </a:p>
        </p:txBody>
      </p:sp>
      <p:graphicFrame>
        <p:nvGraphicFramePr>
          <p:cNvPr id="56" name="표 4">
            <a:extLst>
              <a:ext uri="{FF2B5EF4-FFF2-40B4-BE49-F238E27FC236}">
                <a16:creationId xmlns:a16="http://schemas.microsoft.com/office/drawing/2014/main" id="{66825AB5-D8DE-4228-AE20-B8462963F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506986"/>
              </p:ext>
            </p:extLst>
          </p:nvPr>
        </p:nvGraphicFramePr>
        <p:xfrm>
          <a:off x="1173720" y="3322240"/>
          <a:ext cx="1915993" cy="69594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15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357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차주 및 시행사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99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더함도시개발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주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)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8" name="표 4">
            <a:extLst>
              <a:ext uri="{FF2B5EF4-FFF2-40B4-BE49-F238E27FC236}">
                <a16:creationId xmlns:a16="http://schemas.microsoft.com/office/drawing/2014/main" id="{460BA49F-FBFD-47CF-84B8-FD79E49AD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599205"/>
              </p:ext>
            </p:extLst>
          </p:nvPr>
        </p:nvGraphicFramePr>
        <p:xfrm>
          <a:off x="4344485" y="3249963"/>
          <a:ext cx="2130374" cy="173824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130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Tranche B [440</a:t>
                      </a: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87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" name="직사각형 63">
            <a:extLst>
              <a:ext uri="{FF2B5EF4-FFF2-40B4-BE49-F238E27FC236}">
                <a16:creationId xmlns:a16="http://schemas.microsoft.com/office/drawing/2014/main" id="{42C0B8F0-9454-4C12-8C0D-C38BE49C3C23}"/>
              </a:ext>
            </a:extLst>
          </p:cNvPr>
          <p:cNvSpPr/>
          <p:nvPr/>
        </p:nvSpPr>
        <p:spPr>
          <a:xfrm>
            <a:off x="4414724" y="4111733"/>
            <a:ext cx="4678173" cy="743427"/>
          </a:xfrm>
          <a:prstGeom prst="rect">
            <a:avLst/>
          </a:prstGeom>
          <a:solidFill>
            <a:schemeClr val="bg1">
              <a:lumMod val="95000"/>
              <a:alpha val="74000"/>
            </a:scheme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aphicFrame>
        <p:nvGraphicFramePr>
          <p:cNvPr id="65" name="표 4">
            <a:extLst>
              <a:ext uri="{FF2B5EF4-FFF2-40B4-BE49-F238E27FC236}">
                <a16:creationId xmlns:a16="http://schemas.microsoft.com/office/drawing/2014/main" id="{AB2B9CE1-D945-40AA-8066-829C101C0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162565"/>
              </p:ext>
            </p:extLst>
          </p:nvPr>
        </p:nvGraphicFramePr>
        <p:xfrm>
          <a:off x="4460644" y="4202112"/>
          <a:ext cx="1960205" cy="58931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60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450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신규 유동화 </a:t>
                      </a:r>
                      <a:r>
                        <a:rPr lang="en-US" altLang="ko-KR" sz="11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SPC</a:t>
                      </a:r>
                      <a:endParaRPr lang="ko-KR" altLang="en-US" sz="11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1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T.B.D. [*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 원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7" name="표 4">
            <a:extLst>
              <a:ext uri="{FF2B5EF4-FFF2-40B4-BE49-F238E27FC236}">
                <a16:creationId xmlns:a16="http://schemas.microsoft.com/office/drawing/2014/main" id="{A0A70567-831F-4F3D-B4C6-40CF7C266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087601"/>
              </p:ext>
            </p:extLst>
          </p:nvPr>
        </p:nvGraphicFramePr>
        <p:xfrm>
          <a:off x="7771405" y="4202111"/>
          <a:ext cx="1217353" cy="58931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217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627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lt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사채권자</a:t>
                      </a: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T.B.D. [*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억 원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]</a:t>
                      </a: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8A04F417-DBE1-42DB-BD72-9EF7F4807CF6}"/>
              </a:ext>
            </a:extLst>
          </p:cNvPr>
          <p:cNvCxnSpPr>
            <a:cxnSpLocks/>
            <a:stCxn id="67" idx="1"/>
            <a:endCxn id="65" idx="3"/>
          </p:cNvCxnSpPr>
          <p:nvPr/>
        </p:nvCxnSpPr>
        <p:spPr>
          <a:xfrm flipH="1">
            <a:off x="6420849" y="4496767"/>
            <a:ext cx="1350556" cy="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graphicFrame>
        <p:nvGraphicFramePr>
          <p:cNvPr id="82" name="표 4">
            <a:extLst>
              <a:ext uri="{FF2B5EF4-FFF2-40B4-BE49-F238E27FC236}">
                <a16:creationId xmlns:a16="http://schemas.microsoft.com/office/drawing/2014/main" id="{A92167F4-B776-497C-A458-1FDF5FDBC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012029"/>
              </p:ext>
            </p:extLst>
          </p:nvPr>
        </p:nvGraphicFramePr>
        <p:xfrm>
          <a:off x="1173719" y="4443261"/>
          <a:ext cx="1915993" cy="6959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15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3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신탁사</a:t>
                      </a:r>
                      <a:endParaRPr lang="ko-KR" altLang="en-US" sz="12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0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신한자산신탁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3" name="표 4">
            <a:extLst>
              <a:ext uri="{FF2B5EF4-FFF2-40B4-BE49-F238E27FC236}">
                <a16:creationId xmlns:a16="http://schemas.microsoft.com/office/drawing/2014/main" id="{4991C27C-DA10-4642-93E2-D90C89276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21982"/>
              </p:ext>
            </p:extLst>
          </p:nvPr>
        </p:nvGraphicFramePr>
        <p:xfrm>
          <a:off x="1173720" y="2072936"/>
          <a:ext cx="1915993" cy="69056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15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9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시공사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2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주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)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포스코이앤씨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4" name="표 4">
            <a:extLst>
              <a:ext uri="{FF2B5EF4-FFF2-40B4-BE49-F238E27FC236}">
                <a16:creationId xmlns:a16="http://schemas.microsoft.com/office/drawing/2014/main" id="{3E0BF48C-AEE0-4E33-8500-5CABDB975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654338"/>
              </p:ext>
            </p:extLst>
          </p:nvPr>
        </p:nvGraphicFramePr>
        <p:xfrm>
          <a:off x="4351535" y="2379307"/>
          <a:ext cx="2130374" cy="720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130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382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Tranche A [1,200</a:t>
                      </a: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17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Tr.A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대주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6EA75351-E8BF-4658-A6C3-8269EFC89E88}"/>
              </a:ext>
            </a:extLst>
          </p:cNvPr>
          <p:cNvCxnSpPr>
            <a:cxnSpLocks/>
            <a:stCxn id="56" idx="0"/>
            <a:endCxn id="83" idx="2"/>
          </p:cNvCxnSpPr>
          <p:nvPr/>
        </p:nvCxnSpPr>
        <p:spPr>
          <a:xfrm flipV="1">
            <a:off x="2131716" y="2763504"/>
            <a:ext cx="0" cy="558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77A69DED-2351-4EFF-A355-18116B25CBF3}"/>
              </a:ext>
            </a:extLst>
          </p:cNvPr>
          <p:cNvCxnSpPr>
            <a:cxnSpLocks/>
          </p:cNvCxnSpPr>
          <p:nvPr/>
        </p:nvCxnSpPr>
        <p:spPr>
          <a:xfrm flipH="1">
            <a:off x="3153260" y="3646087"/>
            <a:ext cx="1014693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B1A1B529-DA0A-40C7-B329-6E61D84E5218}"/>
              </a:ext>
            </a:extLst>
          </p:cNvPr>
          <p:cNvCxnSpPr>
            <a:cxnSpLocks/>
            <a:stCxn id="82" idx="0"/>
            <a:endCxn id="56" idx="2"/>
          </p:cNvCxnSpPr>
          <p:nvPr/>
        </p:nvCxnSpPr>
        <p:spPr>
          <a:xfrm flipV="1">
            <a:off x="2131715" y="4018184"/>
            <a:ext cx="1" cy="42507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88" name="텍스트 개체 틀 2">
            <a:extLst>
              <a:ext uri="{FF2B5EF4-FFF2-40B4-BE49-F238E27FC236}">
                <a16:creationId xmlns:a16="http://schemas.microsoft.com/office/drawing/2014/main" id="{06C407D5-FAA5-4D85-AABE-2536EB23C6F8}"/>
              </a:ext>
            </a:extLst>
          </p:cNvPr>
          <p:cNvSpPr txBox="1">
            <a:spLocks/>
          </p:cNvSpPr>
          <p:nvPr/>
        </p:nvSpPr>
        <p:spPr>
          <a:xfrm>
            <a:off x="1988995" y="2972690"/>
            <a:ext cx="1060169" cy="2177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공사도급계약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endParaRPr lang="en-US" altLang="ko-KR" sz="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89" name="텍스트 개체 틀 2">
            <a:extLst>
              <a:ext uri="{FF2B5EF4-FFF2-40B4-BE49-F238E27FC236}">
                <a16:creationId xmlns:a16="http://schemas.microsoft.com/office/drawing/2014/main" id="{604DB853-62C6-4A09-A734-506903E963E5}"/>
              </a:ext>
            </a:extLst>
          </p:cNvPr>
          <p:cNvSpPr txBox="1">
            <a:spLocks/>
          </p:cNvSpPr>
          <p:nvPr/>
        </p:nvSpPr>
        <p:spPr>
          <a:xfrm>
            <a:off x="3133819" y="3454820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대출약정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90" name="텍스트 개체 틀 2">
            <a:extLst>
              <a:ext uri="{FF2B5EF4-FFF2-40B4-BE49-F238E27FC236}">
                <a16:creationId xmlns:a16="http://schemas.microsoft.com/office/drawing/2014/main" id="{69180F7D-F1C3-4CEA-B8C9-28B10114B8A8}"/>
              </a:ext>
            </a:extLst>
          </p:cNvPr>
          <p:cNvSpPr txBox="1">
            <a:spLocks/>
          </p:cNvSpPr>
          <p:nvPr/>
        </p:nvSpPr>
        <p:spPr>
          <a:xfrm>
            <a:off x="1988995" y="4144070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담보신탁계약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91" name="텍스트 개체 틀 2">
            <a:extLst>
              <a:ext uri="{FF2B5EF4-FFF2-40B4-BE49-F238E27FC236}">
                <a16:creationId xmlns:a16="http://schemas.microsoft.com/office/drawing/2014/main" id="{2D60DF03-6D7C-4CB7-AB4C-CB7861509D7B}"/>
              </a:ext>
            </a:extLst>
          </p:cNvPr>
          <p:cNvSpPr txBox="1">
            <a:spLocks/>
          </p:cNvSpPr>
          <p:nvPr/>
        </p:nvSpPr>
        <p:spPr>
          <a:xfrm>
            <a:off x="6601377" y="4282949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 </a:t>
            </a:r>
            <a:r>
              <a:rPr lang="ko-KR" altLang="en-US" sz="90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발행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/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인수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aphicFrame>
        <p:nvGraphicFramePr>
          <p:cNvPr id="92" name="표 4">
            <a:extLst>
              <a:ext uri="{FF2B5EF4-FFF2-40B4-BE49-F238E27FC236}">
                <a16:creationId xmlns:a16="http://schemas.microsoft.com/office/drawing/2014/main" id="{34A95E72-1E84-4B8F-ADBF-1A6C04D36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824357"/>
              </p:ext>
            </p:extLst>
          </p:nvPr>
        </p:nvGraphicFramePr>
        <p:xfrm>
          <a:off x="4460643" y="3646087"/>
          <a:ext cx="1960205" cy="33520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60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520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ㅍ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 </a:t>
                      </a:r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Tr.B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 대주</a:t>
                      </a: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4" name="TextBox 93">
            <a:extLst>
              <a:ext uri="{FF2B5EF4-FFF2-40B4-BE49-F238E27FC236}">
                <a16:creationId xmlns:a16="http://schemas.microsoft.com/office/drawing/2014/main" id="{D5C6A92D-79DA-4BD2-A596-5AED8C6AD6C6}"/>
              </a:ext>
            </a:extLst>
          </p:cNvPr>
          <p:cNvSpPr txBox="1"/>
          <p:nvPr/>
        </p:nvSpPr>
        <p:spPr>
          <a:xfrm>
            <a:off x="861089" y="2115488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5A1B2F6-B655-44D0-BC24-622EF8FCE92C}"/>
              </a:ext>
            </a:extLst>
          </p:cNvPr>
          <p:cNvSpPr txBox="1"/>
          <p:nvPr/>
        </p:nvSpPr>
        <p:spPr>
          <a:xfrm>
            <a:off x="746820" y="2504525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D19F405-C174-4DF3-97DE-798B0EEE8B42}"/>
              </a:ext>
            </a:extLst>
          </p:cNvPr>
          <p:cNvSpPr txBox="1"/>
          <p:nvPr/>
        </p:nvSpPr>
        <p:spPr>
          <a:xfrm flipH="1">
            <a:off x="476247" y="3369088"/>
            <a:ext cx="870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D76F349-AC0A-48D3-BFDA-65448592DA66}"/>
              </a:ext>
            </a:extLst>
          </p:cNvPr>
          <p:cNvSpPr txBox="1"/>
          <p:nvPr/>
        </p:nvSpPr>
        <p:spPr>
          <a:xfrm flipH="1">
            <a:off x="86903" y="3680978"/>
            <a:ext cx="1587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0B68F62-E2D8-4D3E-A213-707EB0A137AB}"/>
              </a:ext>
            </a:extLst>
          </p:cNvPr>
          <p:cNvSpPr txBox="1"/>
          <p:nvPr/>
        </p:nvSpPr>
        <p:spPr>
          <a:xfrm>
            <a:off x="785873" y="447130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7478650-264C-4227-AC32-8BD004F608AD}"/>
              </a:ext>
            </a:extLst>
          </p:cNvPr>
          <p:cNvSpPr txBox="1"/>
          <p:nvPr/>
        </p:nvSpPr>
        <p:spPr>
          <a:xfrm>
            <a:off x="652011" y="4850410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2C7C0C4-7A2A-42C0-83DD-D7BCD26BE90F}"/>
              </a:ext>
            </a:extLst>
          </p:cNvPr>
          <p:cNvSpPr txBox="1"/>
          <p:nvPr/>
        </p:nvSpPr>
        <p:spPr>
          <a:xfrm>
            <a:off x="4474914" y="205464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8A06FDD-E7E7-46B5-AFF9-1AE1BC7C34D6}"/>
              </a:ext>
            </a:extLst>
          </p:cNvPr>
          <p:cNvSpPr txBox="1"/>
          <p:nvPr/>
        </p:nvSpPr>
        <p:spPr>
          <a:xfrm>
            <a:off x="6129814" y="2379307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C73BD37-76AD-4566-9060-766AAC7F2B8A}"/>
              </a:ext>
            </a:extLst>
          </p:cNvPr>
          <p:cNvSpPr txBox="1"/>
          <p:nvPr/>
        </p:nvSpPr>
        <p:spPr>
          <a:xfrm>
            <a:off x="5940852" y="2763504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B17A3A7-C67B-44A6-BC83-B9BAEA41E237}"/>
              </a:ext>
            </a:extLst>
          </p:cNvPr>
          <p:cNvSpPr txBox="1"/>
          <p:nvPr/>
        </p:nvSpPr>
        <p:spPr>
          <a:xfrm>
            <a:off x="6131359" y="325936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09B73C4-A594-4F29-BB99-35A92B351D04}"/>
              </a:ext>
            </a:extLst>
          </p:cNvPr>
          <p:cNvSpPr txBox="1"/>
          <p:nvPr/>
        </p:nvSpPr>
        <p:spPr>
          <a:xfrm>
            <a:off x="5919111" y="3680978"/>
            <a:ext cx="531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DBB1CEC-822F-4BD4-902B-10C0E12C492E}"/>
              </a:ext>
            </a:extLst>
          </p:cNvPr>
          <p:cNvSpPr txBox="1"/>
          <p:nvPr/>
        </p:nvSpPr>
        <p:spPr>
          <a:xfrm>
            <a:off x="6094565" y="4183591"/>
            <a:ext cx="198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C93C331-B31F-4AEF-99BD-DDDA3BAAF2D9}"/>
              </a:ext>
            </a:extLst>
          </p:cNvPr>
          <p:cNvSpPr txBox="1"/>
          <p:nvPr/>
        </p:nvSpPr>
        <p:spPr>
          <a:xfrm>
            <a:off x="5940852" y="4542748"/>
            <a:ext cx="459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1B585D9-950C-48F9-B114-606E47B71955}"/>
              </a:ext>
            </a:extLst>
          </p:cNvPr>
          <p:cNvSpPr txBox="1"/>
          <p:nvPr/>
        </p:nvSpPr>
        <p:spPr>
          <a:xfrm>
            <a:off x="8750914" y="4160344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3195D16-0D99-437A-8415-3461DE7F5FF2}"/>
              </a:ext>
            </a:extLst>
          </p:cNvPr>
          <p:cNvSpPr txBox="1"/>
          <p:nvPr/>
        </p:nvSpPr>
        <p:spPr>
          <a:xfrm>
            <a:off x="8701727" y="4514424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CC01487-298B-4EB5-A933-E8341FC831CB}"/>
              </a:ext>
            </a:extLst>
          </p:cNvPr>
          <p:cNvSpPr txBox="1"/>
          <p:nvPr/>
        </p:nvSpPr>
        <p:spPr>
          <a:xfrm>
            <a:off x="2824145" y="291935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DA8F488-7B76-4234-959B-3F4F3EC6F52E}"/>
              </a:ext>
            </a:extLst>
          </p:cNvPr>
          <p:cNvSpPr txBox="1"/>
          <p:nvPr/>
        </p:nvSpPr>
        <p:spPr>
          <a:xfrm flipH="1">
            <a:off x="2523466" y="4088063"/>
            <a:ext cx="870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B357850-7D57-4B32-97E5-B0B5B60E49BE}"/>
              </a:ext>
            </a:extLst>
          </p:cNvPr>
          <p:cNvSpPr txBox="1"/>
          <p:nvPr/>
        </p:nvSpPr>
        <p:spPr>
          <a:xfrm>
            <a:off x="3180699" y="339785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1AD77F2-14BE-4A7F-BE29-B410C5AACA35}"/>
              </a:ext>
            </a:extLst>
          </p:cNvPr>
          <p:cNvSpPr txBox="1"/>
          <p:nvPr/>
        </p:nvSpPr>
        <p:spPr>
          <a:xfrm>
            <a:off x="6446540" y="423281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</p:spTree>
    <p:extLst>
      <p:ext uri="{BB962C8B-B14F-4D97-AF65-F5344CB8AC3E}">
        <p14:creationId xmlns:p14="http://schemas.microsoft.com/office/powerpoint/2010/main" val="221270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10.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</a:t>
            </a:r>
          </a:p>
        </p:txBody>
      </p:sp>
      <p:graphicFrame>
        <p:nvGraphicFramePr>
          <p:cNvPr id="142" name="Table 15">
            <a:extLst>
              <a:ext uri="{FF2B5EF4-FFF2-40B4-BE49-F238E27FC236}">
                <a16:creationId xmlns:a16="http://schemas.microsoft.com/office/drawing/2014/main" id="{26D0D928-8A4E-4554-BA48-9736EEBA5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463983"/>
              </p:ext>
            </p:extLst>
          </p:nvPr>
        </p:nvGraphicFramePr>
        <p:xfrm>
          <a:off x="3900223" y="4650844"/>
          <a:ext cx="1874519" cy="9360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300" dirty="0" err="1">
                          <a:solidFill>
                            <a:srgbClr val="FFFFFF"/>
                          </a:solidFill>
                          <a:latin typeface="피플폰트 Bold"/>
                        </a:rPr>
                        <a:t>신탁사</a:t>
                      </a:r>
                      <a:endParaRPr sz="1300" dirty="0">
                        <a:solidFill>
                          <a:srgbClr val="FFFFFF"/>
                        </a:solidFill>
                        <a:latin typeface="피플폰트 Bold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000000"/>
                          </a:solidFill>
                          <a:latin typeface="피플폰트 Bold"/>
                        </a:rPr>
                        <a:t>㈜</a:t>
                      </a:r>
                      <a:r>
                        <a:rPr sz="1200" dirty="0" err="1">
                          <a:solidFill>
                            <a:srgbClr val="000000"/>
                          </a:solidFill>
                          <a:latin typeface="피플폰트 Bold"/>
                        </a:rPr>
                        <a:t>무궁화신탁</a:t>
                      </a:r>
                      <a:endParaRPr sz="1200" dirty="0">
                        <a:solidFill>
                          <a:srgbClr val="000000"/>
                        </a:solidFill>
                        <a:latin typeface="피플폰트 Bold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3" name="Table 16">
            <a:extLst>
              <a:ext uri="{FF2B5EF4-FFF2-40B4-BE49-F238E27FC236}">
                <a16:creationId xmlns:a16="http://schemas.microsoft.com/office/drawing/2014/main" id="{68D1AA78-0BD6-46A2-801F-68FFF3161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069671"/>
              </p:ext>
            </p:extLst>
          </p:nvPr>
        </p:nvGraphicFramePr>
        <p:xfrm>
          <a:off x="699823" y="2493000"/>
          <a:ext cx="1874519" cy="9360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피플폰트 Bold"/>
                        </a:rPr>
                        <a:t>시공사</a:t>
                      </a: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000000"/>
                          </a:solidFill>
                          <a:latin typeface="피플폰트 Bold"/>
                        </a:rPr>
                        <a:t>㈜</a:t>
                      </a:r>
                      <a:r>
                        <a:rPr sz="1200" dirty="0" err="1">
                          <a:solidFill>
                            <a:srgbClr val="000000"/>
                          </a:solidFill>
                          <a:latin typeface="피플폰트 Bold"/>
                        </a:rPr>
                        <a:t>한양건설</a:t>
                      </a:r>
                      <a:endParaRPr sz="1200" dirty="0">
                        <a:solidFill>
                          <a:srgbClr val="000000"/>
                        </a:solidFill>
                        <a:latin typeface="피플폰트 Bold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4" name="Table 17">
            <a:extLst>
              <a:ext uri="{FF2B5EF4-FFF2-40B4-BE49-F238E27FC236}">
                <a16:creationId xmlns:a16="http://schemas.microsoft.com/office/drawing/2014/main" id="{6572A3C5-0089-4AAF-9957-4C2AED7D1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19756"/>
              </p:ext>
            </p:extLst>
          </p:nvPr>
        </p:nvGraphicFramePr>
        <p:xfrm>
          <a:off x="3900223" y="2493000"/>
          <a:ext cx="1874519" cy="9360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300" dirty="0" err="1">
                          <a:solidFill>
                            <a:srgbClr val="FFFFFF"/>
                          </a:solidFill>
                          <a:latin typeface="피플폰트 Bold"/>
                        </a:rPr>
                        <a:t>차주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피플폰트 Bold"/>
                        </a:rPr>
                        <a:t>/</a:t>
                      </a:r>
                      <a:r>
                        <a:rPr sz="1300" dirty="0" err="1">
                          <a:solidFill>
                            <a:srgbClr val="FFFFFF"/>
                          </a:solidFill>
                          <a:latin typeface="피플폰트 Bold"/>
                        </a:rPr>
                        <a:t>시행사</a:t>
                      </a:r>
                      <a:endParaRPr sz="1300" dirty="0">
                        <a:solidFill>
                          <a:srgbClr val="FFFFFF"/>
                        </a:solidFill>
                        <a:latin typeface="피플폰트 Bold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solidFill>
                            <a:srgbClr val="000000"/>
                          </a:solidFill>
                          <a:latin typeface="피플폰트 Bold"/>
                        </a:rPr>
                        <a:t>대월지역주택조합</a:t>
                      </a:r>
                      <a:endParaRPr sz="1200" dirty="0">
                        <a:solidFill>
                          <a:srgbClr val="000000"/>
                        </a:solidFill>
                        <a:latin typeface="피플폰트 Bold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5" name="Connector 19">
            <a:extLst>
              <a:ext uri="{FF2B5EF4-FFF2-40B4-BE49-F238E27FC236}">
                <a16:creationId xmlns:a16="http://schemas.microsoft.com/office/drawing/2014/main" id="{C5673FC0-DEBD-46E5-B363-4C0A96EB8449}"/>
              </a:ext>
            </a:extLst>
          </p:cNvPr>
          <p:cNvCxnSpPr/>
          <p:nvPr/>
        </p:nvCxnSpPr>
        <p:spPr>
          <a:xfrm>
            <a:off x="4837482" y="3614674"/>
            <a:ext cx="0" cy="984240"/>
          </a:xfrm>
          <a:prstGeom prst="line">
            <a:avLst/>
          </a:prstGeom>
          <a:ln w="15875">
            <a:solidFill>
              <a:srgbClr val="59595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6E0FC6E0-9663-44EA-BC92-1FB60AC82966}"/>
              </a:ext>
            </a:extLst>
          </p:cNvPr>
          <p:cNvSpPr txBox="1"/>
          <p:nvPr/>
        </p:nvSpPr>
        <p:spPr>
          <a:xfrm>
            <a:off x="4922149" y="3839771"/>
            <a:ext cx="2131137" cy="1874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050">
                <a:latin typeface="피플폰트 Bold"/>
              </a:defRPr>
            </a:pPr>
            <a:r>
              <a:rPr lang="ko-KR" altLang="en-US" sz="1050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토지 </a:t>
            </a:r>
            <a:r>
              <a:rPr sz="1050" dirty="0" err="1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신탁</a:t>
            </a:r>
            <a:r>
              <a:rPr lang="en-US" sz="1050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/ </a:t>
            </a:r>
            <a:r>
              <a:rPr lang="ko-KR" altLang="en-US" sz="1050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대리사무</a:t>
            </a:r>
            <a:r>
              <a:rPr sz="1050" dirty="0" err="1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계약</a:t>
            </a:r>
            <a:endParaRPr lang="en-US" sz="1050" dirty="0">
              <a:solidFill>
                <a:srgbClr val="000000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>
              <a:defRPr sz="1050">
                <a:latin typeface="피플폰트 Bold"/>
              </a:defRPr>
            </a:pPr>
            <a:r>
              <a:rPr lang="en-US" sz="1050" dirty="0">
                <a:solidFill>
                  <a:srgbClr val="C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C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 건 </a:t>
            </a:r>
            <a:r>
              <a:rPr lang="ko-KR" altLang="en-US" sz="1050" dirty="0" err="1">
                <a:solidFill>
                  <a:srgbClr val="C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상환시</a:t>
            </a:r>
            <a:r>
              <a:rPr lang="ko-KR" altLang="en-US" sz="1050" dirty="0">
                <a:solidFill>
                  <a:srgbClr val="C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까지</a:t>
            </a:r>
            <a:r>
              <a:rPr lang="en-US" altLang="ko-KR" sz="1050" dirty="0">
                <a:solidFill>
                  <a:srgbClr val="C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</a:p>
          <a:p>
            <a:pPr>
              <a:defRPr sz="1050">
                <a:latin typeface="피플폰트 Bold"/>
              </a:defRPr>
            </a:pPr>
            <a:r>
              <a:rPr lang="ko-KR" altLang="en-US" sz="1050" dirty="0">
                <a:solidFill>
                  <a:srgbClr val="C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자금 집행에 대한 동의 지위 </a:t>
            </a:r>
            <a:r>
              <a:rPr lang="ko-KR" altLang="en-US" sz="1050" dirty="0" err="1">
                <a:solidFill>
                  <a:srgbClr val="C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대주</a:t>
            </a:r>
            <a:r>
              <a:rPr lang="ko-KR" altLang="en-US" sz="1050" dirty="0">
                <a:solidFill>
                  <a:srgbClr val="C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제공</a:t>
            </a:r>
            <a:endParaRPr sz="1050" dirty="0">
              <a:solidFill>
                <a:srgbClr val="C00000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cxnSp>
        <p:nvCxnSpPr>
          <p:cNvPr id="147" name="Connector 21">
            <a:extLst>
              <a:ext uri="{FF2B5EF4-FFF2-40B4-BE49-F238E27FC236}">
                <a16:creationId xmlns:a16="http://schemas.microsoft.com/office/drawing/2014/main" id="{5930E988-F527-4970-BB74-A1750856C785}"/>
              </a:ext>
            </a:extLst>
          </p:cNvPr>
          <p:cNvCxnSpPr/>
          <p:nvPr/>
        </p:nvCxnSpPr>
        <p:spPr>
          <a:xfrm>
            <a:off x="2574342" y="2961000"/>
            <a:ext cx="1325881" cy="0"/>
          </a:xfrm>
          <a:prstGeom prst="line">
            <a:avLst/>
          </a:prstGeom>
          <a:ln w="15875">
            <a:solidFill>
              <a:srgbClr val="59595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8A314409-E6DB-4D8E-BB1A-A87CB827B262}"/>
              </a:ext>
            </a:extLst>
          </p:cNvPr>
          <p:cNvSpPr txBox="1"/>
          <p:nvPr/>
        </p:nvSpPr>
        <p:spPr>
          <a:xfrm>
            <a:off x="2551482" y="2645533"/>
            <a:ext cx="1371600" cy="1874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defRPr sz="1050">
                <a:latin typeface="피플폰트 Bold"/>
              </a:defRPr>
            </a:pPr>
            <a:r>
              <a:rPr sz="1050" dirty="0" err="1">
                <a:solidFill>
                  <a:srgbClr val="000000"/>
                </a:solidFill>
                <a:latin typeface="피플폰트 Bold"/>
              </a:rPr>
              <a:t>공사도급계약</a:t>
            </a:r>
            <a:endParaRPr sz="1050" dirty="0">
              <a:solidFill>
                <a:srgbClr val="000000"/>
              </a:solidFill>
              <a:latin typeface="피플폰트 Bold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F8204E8-417C-4CF2-8CDD-A4990217B54C}"/>
              </a:ext>
            </a:extLst>
          </p:cNvPr>
          <p:cNvSpPr txBox="1"/>
          <p:nvPr/>
        </p:nvSpPr>
        <p:spPr>
          <a:xfrm>
            <a:off x="5843322" y="2645533"/>
            <a:ext cx="1371600" cy="1874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defRPr sz="1050">
                <a:latin typeface="피플폰트 Bold"/>
              </a:defRPr>
            </a:pPr>
            <a:r>
              <a:rPr sz="1050" dirty="0" err="1">
                <a:solidFill>
                  <a:srgbClr val="000000"/>
                </a:solidFill>
                <a:latin typeface="피플폰트 Bold"/>
              </a:rPr>
              <a:t>대출약정</a:t>
            </a:r>
            <a:endParaRPr sz="1050" dirty="0">
              <a:solidFill>
                <a:srgbClr val="000000"/>
              </a:solidFill>
              <a:latin typeface="피플폰트 Bold"/>
            </a:endParaRPr>
          </a:p>
        </p:txBody>
      </p:sp>
      <p:cxnSp>
        <p:nvCxnSpPr>
          <p:cNvPr id="150" name="Connector 21">
            <a:extLst>
              <a:ext uri="{FF2B5EF4-FFF2-40B4-BE49-F238E27FC236}">
                <a16:creationId xmlns:a16="http://schemas.microsoft.com/office/drawing/2014/main" id="{C68506BD-90FE-4E61-961C-347F85C519AC}"/>
              </a:ext>
            </a:extLst>
          </p:cNvPr>
          <p:cNvCxnSpPr/>
          <p:nvPr/>
        </p:nvCxnSpPr>
        <p:spPr>
          <a:xfrm>
            <a:off x="5866181" y="2961000"/>
            <a:ext cx="1325881" cy="0"/>
          </a:xfrm>
          <a:prstGeom prst="line">
            <a:avLst/>
          </a:prstGeom>
          <a:ln w="15875">
            <a:solidFill>
              <a:srgbClr val="59595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1" name="Table 17">
            <a:extLst>
              <a:ext uri="{FF2B5EF4-FFF2-40B4-BE49-F238E27FC236}">
                <a16:creationId xmlns:a16="http://schemas.microsoft.com/office/drawing/2014/main" id="{8C6064AF-5BF5-42FF-B839-19EA6C267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76741"/>
              </p:ext>
            </p:extLst>
          </p:nvPr>
        </p:nvGraphicFramePr>
        <p:xfrm>
          <a:off x="7214922" y="2493000"/>
          <a:ext cx="1874519" cy="9360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>
                          <a:solidFill>
                            <a:srgbClr val="FFFFFF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본 건 </a:t>
                      </a:r>
                      <a:r>
                        <a:rPr lang="ko-KR" altLang="en-US" sz="1300" dirty="0" err="1">
                          <a:solidFill>
                            <a:srgbClr val="FFFFFF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대주</a:t>
                      </a:r>
                      <a:endParaRPr sz="1300" dirty="0">
                        <a:solidFill>
                          <a:srgbClr val="FFFFFF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금융 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SPC</a:t>
                      </a:r>
                      <a:endParaRPr sz="1200" dirty="0">
                        <a:solidFill>
                          <a:srgbClr val="000000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A5C510CE-0B7E-4915-BD0E-4CE1ACA64DA4}"/>
              </a:ext>
            </a:extLst>
          </p:cNvPr>
          <p:cNvSpPr/>
          <p:nvPr/>
        </p:nvSpPr>
        <p:spPr>
          <a:xfrm>
            <a:off x="7293663" y="2856090"/>
            <a:ext cx="1722120" cy="2702560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53" name="Table 17">
            <a:extLst>
              <a:ext uri="{FF2B5EF4-FFF2-40B4-BE49-F238E27FC236}">
                <a16:creationId xmlns:a16="http://schemas.microsoft.com/office/drawing/2014/main" id="{65D67172-9F99-4CE3-B3B1-32B201D0B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35055"/>
              </p:ext>
            </p:extLst>
          </p:nvPr>
        </p:nvGraphicFramePr>
        <p:xfrm>
          <a:off x="7344466" y="4751684"/>
          <a:ext cx="1590037" cy="72184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90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87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>
                          <a:solidFill>
                            <a:srgbClr val="FFFFFF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투자자</a:t>
                      </a:r>
                      <a:endParaRPr sz="1300" dirty="0">
                        <a:solidFill>
                          <a:srgbClr val="FFFFFF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97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T.B.D</a:t>
                      </a:r>
                      <a:endParaRPr sz="1200" dirty="0">
                        <a:solidFill>
                          <a:srgbClr val="000000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54" name="Connector 19">
            <a:extLst>
              <a:ext uri="{FF2B5EF4-FFF2-40B4-BE49-F238E27FC236}">
                <a16:creationId xmlns:a16="http://schemas.microsoft.com/office/drawing/2014/main" id="{C15C21C5-6558-428D-8979-652135E3229F}"/>
              </a:ext>
            </a:extLst>
          </p:cNvPr>
          <p:cNvCxnSpPr>
            <a:cxnSpLocks/>
          </p:cNvCxnSpPr>
          <p:nvPr/>
        </p:nvCxnSpPr>
        <p:spPr>
          <a:xfrm>
            <a:off x="8145831" y="3497440"/>
            <a:ext cx="0" cy="1239379"/>
          </a:xfrm>
          <a:prstGeom prst="line">
            <a:avLst/>
          </a:prstGeom>
          <a:ln w="15875">
            <a:solidFill>
              <a:srgbClr val="59595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AE2160FB-CF9A-43C9-9193-F6D701882573}"/>
              </a:ext>
            </a:extLst>
          </p:cNvPr>
          <p:cNvSpPr txBox="1"/>
          <p:nvPr/>
        </p:nvSpPr>
        <p:spPr>
          <a:xfrm>
            <a:off x="7833496" y="3970711"/>
            <a:ext cx="1371600" cy="1874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defRPr sz="1050">
                <a:latin typeface="피플폰트 Bold"/>
              </a:defRPr>
            </a:pPr>
            <a:r>
              <a:rPr lang="ko-KR" altLang="en-US" sz="1050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</a:t>
            </a:r>
            <a:endParaRPr lang="en-US" altLang="ko-KR" sz="1050" dirty="0">
              <a:solidFill>
                <a:srgbClr val="000000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algn="ctr">
              <a:defRPr sz="1050">
                <a:latin typeface="피플폰트 Bold"/>
              </a:defRPr>
            </a:pPr>
            <a:r>
              <a:rPr lang="ko-KR" altLang="en-US" sz="1050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발행</a:t>
            </a:r>
            <a:r>
              <a:rPr lang="en-US" altLang="ko-KR" sz="1050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/</a:t>
            </a:r>
            <a:r>
              <a:rPr lang="ko-KR" altLang="en-US" sz="1050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인수</a:t>
            </a:r>
            <a:endParaRPr sz="1050" dirty="0">
              <a:solidFill>
                <a:srgbClr val="000000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aphicFrame>
        <p:nvGraphicFramePr>
          <p:cNvPr id="156" name="Table 17">
            <a:extLst>
              <a:ext uri="{FF2B5EF4-FFF2-40B4-BE49-F238E27FC236}">
                <a16:creationId xmlns:a16="http://schemas.microsoft.com/office/drawing/2014/main" id="{4D738A4C-986B-450D-925C-4D089B60D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047187"/>
              </p:ext>
            </p:extLst>
          </p:nvPr>
        </p:nvGraphicFramePr>
        <p:xfrm>
          <a:off x="7349546" y="2920050"/>
          <a:ext cx="1590037" cy="440995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90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099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금융 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SPC</a:t>
                      </a:r>
                      <a:endParaRPr sz="1200" dirty="0">
                        <a:solidFill>
                          <a:srgbClr val="000000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57" name="연결선: 꺾임 156">
            <a:extLst>
              <a:ext uri="{FF2B5EF4-FFF2-40B4-BE49-F238E27FC236}">
                <a16:creationId xmlns:a16="http://schemas.microsoft.com/office/drawing/2014/main" id="{0793568B-58CC-4A6A-BD7F-6AC0E9BB7DD7}"/>
              </a:ext>
            </a:extLst>
          </p:cNvPr>
          <p:cNvCxnSpPr>
            <a:cxnSpLocks/>
            <a:stCxn id="143" idx="0"/>
            <a:endCxn id="151" idx="0"/>
          </p:cNvCxnSpPr>
          <p:nvPr/>
        </p:nvCxnSpPr>
        <p:spPr>
          <a:xfrm rot="5400000" flipH="1" flipV="1">
            <a:off x="4894631" y="-764549"/>
            <a:ext cx="12700" cy="6515099"/>
          </a:xfrm>
          <a:prstGeom prst="bentConnector3">
            <a:avLst>
              <a:gd name="adj1" fmla="val 5320000"/>
            </a:avLst>
          </a:prstGeom>
          <a:ln w="15875">
            <a:solidFill>
              <a:srgbClr val="595959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A926D534-2276-44DF-A6F2-470D725B36F1}"/>
              </a:ext>
            </a:extLst>
          </p:cNvPr>
          <p:cNvSpPr txBox="1"/>
          <p:nvPr/>
        </p:nvSpPr>
        <p:spPr>
          <a:xfrm>
            <a:off x="4151682" y="1583112"/>
            <a:ext cx="1371600" cy="1874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defRPr sz="1050">
                <a:latin typeface="피플폰트 Bold"/>
              </a:defRPr>
            </a:pPr>
            <a:r>
              <a:rPr lang="ko-KR" altLang="en-US" sz="1050" dirty="0">
                <a:solidFill>
                  <a:srgbClr val="C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연대보증 제공</a:t>
            </a:r>
            <a:endParaRPr sz="1050" dirty="0">
              <a:solidFill>
                <a:srgbClr val="C00000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4426A9-BED6-4BB3-A15D-346B7FDE16BC}"/>
              </a:ext>
            </a:extLst>
          </p:cNvPr>
          <p:cNvSpPr txBox="1"/>
          <p:nvPr/>
        </p:nvSpPr>
        <p:spPr>
          <a:xfrm>
            <a:off x="367311" y="249935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731389-A96E-4649-981E-BAA0975C123A}"/>
              </a:ext>
            </a:extLst>
          </p:cNvPr>
          <p:cNvSpPr txBox="1"/>
          <p:nvPr/>
        </p:nvSpPr>
        <p:spPr>
          <a:xfrm>
            <a:off x="253042" y="2888388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1941AD-5EC2-49C2-8F0C-C4FE89B3531C}"/>
              </a:ext>
            </a:extLst>
          </p:cNvPr>
          <p:cNvSpPr txBox="1"/>
          <p:nvPr/>
        </p:nvSpPr>
        <p:spPr>
          <a:xfrm flipH="1">
            <a:off x="3728177" y="2499569"/>
            <a:ext cx="870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9A1379-88BB-42BA-98B8-70E6FF32E87B}"/>
              </a:ext>
            </a:extLst>
          </p:cNvPr>
          <p:cNvSpPr txBox="1"/>
          <p:nvPr/>
        </p:nvSpPr>
        <p:spPr>
          <a:xfrm flipH="1">
            <a:off x="3338833" y="2811459"/>
            <a:ext cx="1587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85D906F-8B11-4D19-8119-67F47AC7A833}"/>
              </a:ext>
            </a:extLst>
          </p:cNvPr>
          <p:cNvSpPr txBox="1"/>
          <p:nvPr/>
        </p:nvSpPr>
        <p:spPr>
          <a:xfrm>
            <a:off x="7440223" y="255933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B63114C-8B1B-4AD0-A19B-1441908AC1AF}"/>
              </a:ext>
            </a:extLst>
          </p:cNvPr>
          <p:cNvSpPr txBox="1"/>
          <p:nvPr/>
        </p:nvSpPr>
        <p:spPr>
          <a:xfrm>
            <a:off x="7306361" y="2906776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A0280A4-2B90-4F02-A901-F2F931C82EDE}"/>
              </a:ext>
            </a:extLst>
          </p:cNvPr>
          <p:cNvSpPr txBox="1"/>
          <p:nvPr/>
        </p:nvSpPr>
        <p:spPr>
          <a:xfrm>
            <a:off x="4008622" y="467485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1425466-9A13-4471-970F-7863460A682C}"/>
              </a:ext>
            </a:extLst>
          </p:cNvPr>
          <p:cNvSpPr txBox="1"/>
          <p:nvPr/>
        </p:nvSpPr>
        <p:spPr>
          <a:xfrm>
            <a:off x="3855820" y="5102474"/>
            <a:ext cx="528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346B9A-C80F-42E3-A16A-99D034C91EB2}"/>
              </a:ext>
            </a:extLst>
          </p:cNvPr>
          <p:cNvSpPr txBox="1"/>
          <p:nvPr/>
        </p:nvSpPr>
        <p:spPr>
          <a:xfrm>
            <a:off x="7502762" y="4742772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B5D584A-9629-4590-9D95-C3F88B6DB81F}"/>
              </a:ext>
            </a:extLst>
          </p:cNvPr>
          <p:cNvSpPr txBox="1"/>
          <p:nvPr/>
        </p:nvSpPr>
        <p:spPr>
          <a:xfrm>
            <a:off x="7313800" y="5126969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9E46556-E61B-44FF-8D6A-0314D665A46E}"/>
              </a:ext>
            </a:extLst>
          </p:cNvPr>
          <p:cNvSpPr txBox="1"/>
          <p:nvPr/>
        </p:nvSpPr>
        <p:spPr>
          <a:xfrm>
            <a:off x="4229892" y="145875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72A9E3C-28D2-423C-94BB-ABF30896AEEC}"/>
              </a:ext>
            </a:extLst>
          </p:cNvPr>
          <p:cNvSpPr txBox="1"/>
          <p:nvPr/>
        </p:nvSpPr>
        <p:spPr>
          <a:xfrm flipH="1">
            <a:off x="2821091" y="2347914"/>
            <a:ext cx="870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2D432F2-9121-42E3-BFC4-7B088BAD887C}"/>
              </a:ext>
            </a:extLst>
          </p:cNvPr>
          <p:cNvSpPr txBox="1"/>
          <p:nvPr/>
        </p:nvSpPr>
        <p:spPr>
          <a:xfrm>
            <a:off x="6403888" y="236085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C78402D-8FD0-4CCE-A37A-D95945520F5D}"/>
              </a:ext>
            </a:extLst>
          </p:cNvPr>
          <p:cNvSpPr txBox="1"/>
          <p:nvPr/>
        </p:nvSpPr>
        <p:spPr>
          <a:xfrm>
            <a:off x="4904452" y="356023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9617663-D86E-45CD-B353-69BF6C0DF8FE}"/>
              </a:ext>
            </a:extLst>
          </p:cNvPr>
          <p:cNvSpPr txBox="1"/>
          <p:nvPr/>
        </p:nvSpPr>
        <p:spPr>
          <a:xfrm>
            <a:off x="8230645" y="3676754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1290754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11.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담보대출</a:t>
            </a:r>
          </a:p>
        </p:txBody>
      </p:sp>
      <p:graphicFrame>
        <p:nvGraphicFramePr>
          <p:cNvPr id="37" name="표 4">
            <a:extLst>
              <a:ext uri="{FF2B5EF4-FFF2-40B4-BE49-F238E27FC236}">
                <a16:creationId xmlns:a16="http://schemas.microsoft.com/office/drawing/2014/main" id="{D093C3E0-07F2-4ED6-BCE9-BFF866BDA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700215"/>
              </p:ext>
            </p:extLst>
          </p:nvPr>
        </p:nvGraphicFramePr>
        <p:xfrm>
          <a:off x="3983969" y="3182899"/>
          <a:ext cx="2336121" cy="45811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336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1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돈암동 역세권 지역주택조합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표 4">
            <a:extLst>
              <a:ext uri="{FF2B5EF4-FFF2-40B4-BE49-F238E27FC236}">
                <a16:creationId xmlns:a16="http://schemas.microsoft.com/office/drawing/2014/main" id="{162EB8DD-FFEA-4618-9EA6-311318A5A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968082"/>
              </p:ext>
            </p:extLst>
          </p:nvPr>
        </p:nvGraphicFramePr>
        <p:xfrm>
          <a:off x="7329678" y="2538531"/>
          <a:ext cx="1522966" cy="13947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22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784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담보대출 </a:t>
                      </a: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[30</a:t>
                      </a:r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871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6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금융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SPC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[30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]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9" name="표 4">
            <a:extLst>
              <a:ext uri="{FF2B5EF4-FFF2-40B4-BE49-F238E27FC236}">
                <a16:creationId xmlns:a16="http://schemas.microsoft.com/office/drawing/2014/main" id="{28BEC346-D86A-4972-998F-F212DB7EF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420861"/>
              </p:ext>
            </p:extLst>
          </p:nvPr>
        </p:nvGraphicFramePr>
        <p:xfrm>
          <a:off x="7549065" y="4634526"/>
          <a:ext cx="1091980" cy="5872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09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735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투자자</a:t>
                      </a:r>
                    </a:p>
                  </a:txBody>
                  <a:tcPr marL="156067" marR="156067" marT="70939" marB="70939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8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[30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억원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C321759-78C3-4D8C-BD1C-8DE9B67D7D09}"/>
              </a:ext>
            </a:extLst>
          </p:cNvPr>
          <p:cNvCxnSpPr>
            <a:cxnSpLocks/>
          </p:cNvCxnSpPr>
          <p:nvPr/>
        </p:nvCxnSpPr>
        <p:spPr>
          <a:xfrm flipH="1" flipV="1">
            <a:off x="8102318" y="3973189"/>
            <a:ext cx="1" cy="6368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D54758C-7F68-486D-878B-A6163C4FA8E9}"/>
              </a:ext>
            </a:extLst>
          </p:cNvPr>
          <p:cNvSpPr txBox="1"/>
          <p:nvPr/>
        </p:nvSpPr>
        <p:spPr>
          <a:xfrm>
            <a:off x="6184078" y="3162134"/>
            <a:ext cx="1371600" cy="1874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defRPr sz="1050">
                <a:latin typeface="피플폰트 Bold"/>
              </a:defRPr>
            </a:pPr>
            <a:r>
              <a:rPr sz="1050" dirty="0" err="1">
                <a:solidFill>
                  <a:srgbClr val="000000"/>
                </a:solidFill>
                <a:latin typeface="피플폰트 Bold"/>
              </a:rPr>
              <a:t>대출약정</a:t>
            </a:r>
            <a:endParaRPr sz="1050" dirty="0">
              <a:solidFill>
                <a:srgbClr val="000000"/>
              </a:solidFill>
              <a:latin typeface="피플폰트 Bold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49AECD-0D53-43F5-AA7D-1710ED0B3B2F}"/>
              </a:ext>
            </a:extLst>
          </p:cNvPr>
          <p:cNvSpPr txBox="1"/>
          <p:nvPr/>
        </p:nvSpPr>
        <p:spPr>
          <a:xfrm>
            <a:off x="7744772" y="4171739"/>
            <a:ext cx="1371600" cy="45811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defRPr sz="1050">
                <a:latin typeface="피플폰트 Bold"/>
              </a:defRPr>
            </a:pPr>
            <a:r>
              <a:rPr lang="ko-KR" altLang="en-US" sz="1050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</a:t>
            </a:r>
            <a:endParaRPr lang="en-US" altLang="ko-KR" sz="1050" dirty="0">
              <a:solidFill>
                <a:srgbClr val="000000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algn="ctr">
              <a:defRPr sz="1050">
                <a:latin typeface="피플폰트 Bold"/>
              </a:defRPr>
            </a:pPr>
            <a:r>
              <a:rPr lang="ko-KR" altLang="en-US" sz="1050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발행</a:t>
            </a:r>
            <a:r>
              <a:rPr lang="en-US" altLang="ko-KR" sz="1050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/</a:t>
            </a:r>
            <a:r>
              <a:rPr lang="ko-KR" altLang="en-US" sz="1050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인수</a:t>
            </a:r>
            <a:endParaRPr sz="1050" dirty="0">
              <a:solidFill>
                <a:srgbClr val="000000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cxnSp>
        <p:nvCxnSpPr>
          <p:cNvPr id="43" name="Connector 21">
            <a:extLst>
              <a:ext uri="{FF2B5EF4-FFF2-40B4-BE49-F238E27FC236}">
                <a16:creationId xmlns:a16="http://schemas.microsoft.com/office/drawing/2014/main" id="{0CCF65AC-329C-4276-A3BD-A7C30B225D0A}"/>
              </a:ext>
            </a:extLst>
          </p:cNvPr>
          <p:cNvCxnSpPr>
            <a:cxnSpLocks/>
          </p:cNvCxnSpPr>
          <p:nvPr/>
        </p:nvCxnSpPr>
        <p:spPr>
          <a:xfrm>
            <a:off x="6396988" y="3429000"/>
            <a:ext cx="932690" cy="0"/>
          </a:xfrm>
          <a:prstGeom prst="line">
            <a:avLst/>
          </a:prstGeom>
          <a:ln w="15875">
            <a:solidFill>
              <a:srgbClr val="59595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16">
            <a:extLst>
              <a:ext uri="{FF2B5EF4-FFF2-40B4-BE49-F238E27FC236}">
                <a16:creationId xmlns:a16="http://schemas.microsoft.com/office/drawing/2014/main" id="{97266CE6-25F7-4DB1-8CCA-872DC4EAE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190677"/>
              </p:ext>
            </p:extLst>
          </p:nvPr>
        </p:nvGraphicFramePr>
        <p:xfrm>
          <a:off x="968504" y="2961000"/>
          <a:ext cx="1874519" cy="9360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>
                          <a:solidFill>
                            <a:srgbClr val="FFFFFF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신탁사</a:t>
                      </a:r>
                      <a:endParaRPr sz="1200" dirty="0">
                        <a:solidFill>
                          <a:srgbClr val="FFFFFF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TBD</a:t>
                      </a:r>
                      <a:endParaRPr sz="1200" dirty="0">
                        <a:solidFill>
                          <a:srgbClr val="000000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5" name="Connector 21">
            <a:extLst>
              <a:ext uri="{FF2B5EF4-FFF2-40B4-BE49-F238E27FC236}">
                <a16:creationId xmlns:a16="http://schemas.microsoft.com/office/drawing/2014/main" id="{021C02C1-0372-4F9A-BB70-A03271EA4CBC}"/>
              </a:ext>
            </a:extLst>
          </p:cNvPr>
          <p:cNvCxnSpPr>
            <a:cxnSpLocks/>
          </p:cNvCxnSpPr>
          <p:nvPr/>
        </p:nvCxnSpPr>
        <p:spPr>
          <a:xfrm>
            <a:off x="2937508" y="3436279"/>
            <a:ext cx="932690" cy="0"/>
          </a:xfrm>
          <a:prstGeom prst="line">
            <a:avLst/>
          </a:prstGeom>
          <a:ln w="15875">
            <a:solidFill>
              <a:srgbClr val="59595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D5955AD-C8E4-472C-9433-22164F69CB3D}"/>
              </a:ext>
            </a:extLst>
          </p:cNvPr>
          <p:cNvSpPr txBox="1"/>
          <p:nvPr/>
        </p:nvSpPr>
        <p:spPr>
          <a:xfrm>
            <a:off x="2718053" y="3033210"/>
            <a:ext cx="1371600" cy="445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defRPr sz="1050">
                <a:latin typeface="피플폰트 Bold"/>
              </a:defRPr>
            </a:pPr>
            <a:r>
              <a:rPr lang="ko-KR" altLang="en-US" sz="1050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부동산</a:t>
            </a:r>
            <a:endParaRPr lang="en-US" altLang="ko-KR" sz="1050" dirty="0">
              <a:solidFill>
                <a:srgbClr val="000000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algn="ctr">
              <a:defRPr sz="1050">
                <a:latin typeface="피플폰트 Bold"/>
              </a:defRPr>
            </a:pPr>
            <a:r>
              <a:rPr lang="ko-KR" altLang="en-US" sz="1050" dirty="0">
                <a:solidFill>
                  <a:srgbClr val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담보신탁</a:t>
            </a:r>
            <a:endParaRPr sz="1050" dirty="0">
              <a:solidFill>
                <a:srgbClr val="000000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6FAEDE-D79E-4D5E-80D9-B7BB2B43C63C}"/>
              </a:ext>
            </a:extLst>
          </p:cNvPr>
          <p:cNvSpPr txBox="1"/>
          <p:nvPr/>
        </p:nvSpPr>
        <p:spPr>
          <a:xfrm>
            <a:off x="1252921" y="297988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C6DFBA-8F02-48EB-986D-14A9DE9E57D8}"/>
              </a:ext>
            </a:extLst>
          </p:cNvPr>
          <p:cNvSpPr txBox="1"/>
          <p:nvPr/>
        </p:nvSpPr>
        <p:spPr>
          <a:xfrm>
            <a:off x="1138652" y="3368921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D1F764-24CA-4CBF-A82A-FC53E27DE7D2}"/>
              </a:ext>
            </a:extLst>
          </p:cNvPr>
          <p:cNvSpPr txBox="1"/>
          <p:nvPr/>
        </p:nvSpPr>
        <p:spPr>
          <a:xfrm flipH="1">
            <a:off x="4639622" y="2945835"/>
            <a:ext cx="870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801171-2B48-4187-B484-49FD3D8D14D7}"/>
              </a:ext>
            </a:extLst>
          </p:cNvPr>
          <p:cNvSpPr txBox="1"/>
          <p:nvPr/>
        </p:nvSpPr>
        <p:spPr>
          <a:xfrm>
            <a:off x="8852644" y="2547761"/>
            <a:ext cx="26372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7783B2-6F38-4540-9D35-653C27EA6A5F}"/>
              </a:ext>
            </a:extLst>
          </p:cNvPr>
          <p:cNvSpPr txBox="1"/>
          <p:nvPr/>
        </p:nvSpPr>
        <p:spPr>
          <a:xfrm>
            <a:off x="8852644" y="3044399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D6BF39-AC2D-4EC8-8A81-F3135B159DA8}"/>
              </a:ext>
            </a:extLst>
          </p:cNvPr>
          <p:cNvSpPr txBox="1"/>
          <p:nvPr/>
        </p:nvSpPr>
        <p:spPr>
          <a:xfrm>
            <a:off x="7207226" y="462985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3181B5E-1818-4754-B77E-A2F5B2A87469}"/>
              </a:ext>
            </a:extLst>
          </p:cNvPr>
          <p:cNvSpPr txBox="1"/>
          <p:nvPr/>
        </p:nvSpPr>
        <p:spPr>
          <a:xfrm>
            <a:off x="6990952" y="4948035"/>
            <a:ext cx="528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A46C5C-865D-469A-961D-C8AA69B17622}"/>
              </a:ext>
            </a:extLst>
          </p:cNvPr>
          <p:cNvSpPr txBox="1"/>
          <p:nvPr/>
        </p:nvSpPr>
        <p:spPr>
          <a:xfrm>
            <a:off x="3227250" y="277978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89F1C0-AD1F-4791-A798-9075317097D8}"/>
              </a:ext>
            </a:extLst>
          </p:cNvPr>
          <p:cNvSpPr txBox="1"/>
          <p:nvPr/>
        </p:nvSpPr>
        <p:spPr>
          <a:xfrm flipH="1">
            <a:off x="6422913" y="2939338"/>
            <a:ext cx="870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CA46BE-7955-457F-A58D-E5BBED4685F9}"/>
              </a:ext>
            </a:extLst>
          </p:cNvPr>
          <p:cNvSpPr txBox="1"/>
          <p:nvPr/>
        </p:nvSpPr>
        <p:spPr>
          <a:xfrm>
            <a:off x="8689617" y="4107387"/>
            <a:ext cx="26372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4281329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1047</TotalTime>
  <Words>1138</Words>
  <Application>Microsoft Office PowerPoint</Application>
  <PresentationFormat>A4 용지(210x297mm)</PresentationFormat>
  <Paragraphs>499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맑은 고딕</vt:lpstr>
      <vt:lpstr>피플폰트 Bold</vt:lpstr>
      <vt:lpstr>피플폰트 Light</vt:lpstr>
      <vt:lpstr>Arial</vt:lpstr>
      <vt:lpstr>Calibri</vt:lpstr>
      <vt:lpstr>Calibri Light</vt:lpstr>
      <vt:lpstr>Verdana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레인필드투자자문</dc:creator>
  <cp:lastModifiedBy>장찬희</cp:lastModifiedBy>
  <cp:revision>103</cp:revision>
  <dcterms:created xsi:type="dcterms:W3CDTF">2026-02-10T06:23:32Z</dcterms:created>
  <dcterms:modified xsi:type="dcterms:W3CDTF">2026-08-20T06:14:05Z</dcterms:modified>
</cp:coreProperties>
</file>