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2" r:id="rId2"/>
    <p:sldId id="269" r:id="rId3"/>
    <p:sldId id="256" r:id="rId4"/>
    <p:sldId id="260" r:id="rId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6EAB"/>
    <a:srgbClr val="2E75B6"/>
    <a:srgbClr val="FFFFFF"/>
    <a:srgbClr val="73A9DB"/>
    <a:srgbClr val="002E56"/>
    <a:srgbClr val="012549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7" autoAdjust="0"/>
    <p:restoredTop sz="94660"/>
  </p:normalViewPr>
  <p:slideViewPr>
    <p:cSldViewPr snapToGrid="0">
      <p:cViewPr varScale="1">
        <p:scale>
          <a:sx n="78" d="100"/>
          <a:sy n="78" d="100"/>
        </p:scale>
        <p:origin x="96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deac549ad58e74e9" providerId="LiveId" clId="{9A1C5CB3-C32B-4F76-9B5A-79D195692619}"/>
    <pc:docChg chg="undo custSel modSld">
      <pc:chgData name="" userId="deac549ad58e74e9" providerId="LiveId" clId="{9A1C5CB3-C32B-4F76-9B5A-79D195692619}" dt="2026-08-10T06:36:38.033" v="203" actId="1076"/>
      <pc:docMkLst>
        <pc:docMk/>
      </pc:docMkLst>
      <pc:sldChg chg="modSp">
        <pc:chgData name="" userId="deac549ad58e74e9" providerId="LiveId" clId="{9A1C5CB3-C32B-4F76-9B5A-79D195692619}" dt="2026-08-10T06:26:28.644" v="51" actId="20577"/>
        <pc:sldMkLst>
          <pc:docMk/>
          <pc:sldMk cId="3290786611" sldId="262"/>
        </pc:sldMkLst>
        <pc:spChg chg="mod">
          <ac:chgData name="" userId="deac549ad58e74e9" providerId="LiveId" clId="{9A1C5CB3-C32B-4F76-9B5A-79D195692619}" dt="2026-08-10T06:25:39.748" v="10" actId="20577"/>
          <ac:spMkLst>
            <pc:docMk/>
            <pc:sldMk cId="3290786611" sldId="262"/>
            <ac:spMk id="32" creationId="{EA96A542-644D-4A24-ADAE-724B9FD033EA}"/>
          </ac:spMkLst>
        </pc:spChg>
        <pc:spChg chg="mod">
          <ac:chgData name="" userId="deac549ad58e74e9" providerId="LiveId" clId="{9A1C5CB3-C32B-4F76-9B5A-79D195692619}" dt="2026-08-10T06:26:28.644" v="51" actId="20577"/>
          <ac:spMkLst>
            <pc:docMk/>
            <pc:sldMk cId="3290786611" sldId="262"/>
            <ac:spMk id="33" creationId="{C4A78911-7507-47CC-8DDD-37C0A8F35B32}"/>
          </ac:spMkLst>
        </pc:spChg>
      </pc:sldChg>
      <pc:sldChg chg="addSp delSp modSp">
        <pc:chgData name="" userId="deac549ad58e74e9" providerId="LiveId" clId="{9A1C5CB3-C32B-4F76-9B5A-79D195692619}" dt="2026-08-10T06:36:38.033" v="203" actId="1076"/>
        <pc:sldMkLst>
          <pc:docMk/>
          <pc:sldMk cId="1791971862" sldId="269"/>
        </pc:sldMkLst>
        <pc:spChg chg="add mod">
          <ac:chgData name="" userId="deac549ad58e74e9" providerId="LiveId" clId="{9A1C5CB3-C32B-4F76-9B5A-79D195692619}" dt="2026-08-10T06:36:27.190" v="200" actId="1076"/>
          <ac:spMkLst>
            <pc:docMk/>
            <pc:sldMk cId="1791971862" sldId="269"/>
            <ac:spMk id="25" creationId="{F117CA2D-D2FC-4820-948D-082385DBD7E3}"/>
          </ac:spMkLst>
        </pc:spChg>
        <pc:spChg chg="add mod">
          <ac:chgData name="" userId="deac549ad58e74e9" providerId="LiveId" clId="{9A1C5CB3-C32B-4F76-9B5A-79D195692619}" dt="2026-08-10T06:36:38.033" v="203" actId="1076"/>
          <ac:spMkLst>
            <pc:docMk/>
            <pc:sldMk cId="1791971862" sldId="269"/>
            <ac:spMk id="32" creationId="{04A25A8B-B76B-46AB-B2C5-5EB6725C8E44}"/>
          </ac:spMkLst>
        </pc:spChg>
        <pc:spChg chg="mod">
          <ac:chgData name="" userId="deac549ad58e74e9" providerId="LiveId" clId="{9A1C5CB3-C32B-4F76-9B5A-79D195692619}" dt="2026-08-10T06:33:56.971" v="188" actId="20577"/>
          <ac:spMkLst>
            <pc:docMk/>
            <pc:sldMk cId="1791971862" sldId="269"/>
            <ac:spMk id="44" creationId="{CB6DCFB6-B3CC-47EA-99D6-7AFB1B33ED07}"/>
          </ac:spMkLst>
        </pc:spChg>
        <pc:spChg chg="mod">
          <ac:chgData name="" userId="deac549ad58e74e9" providerId="LiveId" clId="{9A1C5CB3-C32B-4F76-9B5A-79D195692619}" dt="2026-08-10T06:29:07.323" v="162" actId="14100"/>
          <ac:spMkLst>
            <pc:docMk/>
            <pc:sldMk cId="1791971862" sldId="269"/>
            <ac:spMk id="46" creationId="{69DC1874-428B-4C18-AE5E-9C395B10BD5C}"/>
          </ac:spMkLst>
        </pc:spChg>
        <pc:spChg chg="mod">
          <ac:chgData name="" userId="deac549ad58e74e9" providerId="LiveId" clId="{9A1C5CB3-C32B-4F76-9B5A-79D195692619}" dt="2026-08-10T06:36:27.190" v="200" actId="1076"/>
          <ac:spMkLst>
            <pc:docMk/>
            <pc:sldMk cId="1791971862" sldId="269"/>
            <ac:spMk id="48" creationId="{D96A902C-58D1-4D00-9ADE-A5557F0D0B0B}"/>
          </ac:spMkLst>
        </pc:spChg>
        <pc:spChg chg="mod">
          <ac:chgData name="" userId="deac549ad58e74e9" providerId="LiveId" clId="{9A1C5CB3-C32B-4F76-9B5A-79D195692619}" dt="2026-08-10T06:36:30.603" v="202" actId="1076"/>
          <ac:spMkLst>
            <pc:docMk/>
            <pc:sldMk cId="1791971862" sldId="269"/>
            <ac:spMk id="49" creationId="{98B31954-C8A0-41F3-BC57-D4C12283BEA4}"/>
          </ac:spMkLst>
        </pc:spChg>
        <pc:spChg chg="mod">
          <ac:chgData name="" userId="deac549ad58e74e9" providerId="LiveId" clId="{9A1C5CB3-C32B-4F76-9B5A-79D195692619}" dt="2026-08-10T06:36:27.190" v="200" actId="1076"/>
          <ac:spMkLst>
            <pc:docMk/>
            <pc:sldMk cId="1791971862" sldId="269"/>
            <ac:spMk id="50" creationId="{9A182597-EBD9-4385-B02A-CAFA83488202}"/>
          </ac:spMkLst>
        </pc:spChg>
        <pc:spChg chg="del">
          <ac:chgData name="" userId="deac549ad58e74e9" providerId="LiveId" clId="{9A1C5CB3-C32B-4F76-9B5A-79D195692619}" dt="2026-08-10T06:34:01.894" v="190" actId="478"/>
          <ac:spMkLst>
            <pc:docMk/>
            <pc:sldMk cId="1791971862" sldId="269"/>
            <ac:spMk id="51" creationId="{C172D9C5-E87C-41FE-8BEA-B34A5A1CCCC0}"/>
          </ac:spMkLst>
        </pc:spChg>
        <pc:spChg chg="add del">
          <ac:chgData name="" userId="deac549ad58e74e9" providerId="LiveId" clId="{9A1C5CB3-C32B-4F76-9B5A-79D195692619}" dt="2026-08-10T06:34:19.539" v="194" actId="478"/>
          <ac:spMkLst>
            <pc:docMk/>
            <pc:sldMk cId="1791971862" sldId="269"/>
            <ac:spMk id="58" creationId="{634B8AB3-04E7-46F6-B972-90B9EB9DCB58}"/>
          </ac:spMkLst>
        </pc:spChg>
        <pc:grpChg chg="add mod">
          <ac:chgData name="" userId="deac549ad58e74e9" providerId="LiveId" clId="{9A1C5CB3-C32B-4F76-9B5A-79D195692619}" dt="2026-08-10T06:36:27.190" v="200" actId="1076"/>
          <ac:grpSpMkLst>
            <pc:docMk/>
            <pc:sldMk cId="1791971862" sldId="269"/>
            <ac:grpSpMk id="26" creationId="{D2A3725E-061B-48C4-BC36-39BA366FF7CE}"/>
          </ac:grpSpMkLst>
        </pc:grpChg>
        <pc:grpChg chg="add mod">
          <ac:chgData name="" userId="deac549ad58e74e9" providerId="LiveId" clId="{9A1C5CB3-C32B-4F76-9B5A-79D195692619}" dt="2026-08-10T06:36:38.033" v="203" actId="1076"/>
          <ac:grpSpMkLst>
            <pc:docMk/>
            <pc:sldMk cId="1791971862" sldId="269"/>
            <ac:grpSpMk id="33" creationId="{1D623340-CF2D-4B45-83CB-9FEFBB2A3D49}"/>
          </ac:grpSpMkLst>
        </pc:grpChg>
        <pc:grpChg chg="mod">
          <ac:chgData name="" userId="deac549ad58e74e9" providerId="LiveId" clId="{9A1C5CB3-C32B-4F76-9B5A-79D195692619}" dt="2026-08-10T06:29:19.331" v="165" actId="12788"/>
          <ac:grpSpMkLst>
            <pc:docMk/>
            <pc:sldMk cId="1791971862" sldId="269"/>
            <ac:grpSpMk id="45" creationId="{D854F264-B996-4EF5-8ED3-D3FA4BED7453}"/>
          </ac:grpSpMkLst>
        </pc:grpChg>
        <pc:grpChg chg="del">
          <ac:chgData name="" userId="deac549ad58e74e9" providerId="LiveId" clId="{9A1C5CB3-C32B-4F76-9B5A-79D195692619}" dt="2026-08-10T06:34:00.403" v="189" actId="478"/>
          <ac:grpSpMkLst>
            <pc:docMk/>
            <pc:sldMk cId="1791971862" sldId="269"/>
            <ac:grpSpMk id="52" creationId="{C7012D84-0DD3-463D-AA04-A99E2F95BAB9}"/>
          </ac:grpSpMkLst>
        </pc:grpChg>
        <pc:grpChg chg="del mod">
          <ac:chgData name="" userId="deac549ad58e74e9" providerId="LiveId" clId="{9A1C5CB3-C32B-4F76-9B5A-79D195692619}" dt="2026-08-10T06:34:03.418" v="191" actId="478"/>
          <ac:grpSpMkLst>
            <pc:docMk/>
            <pc:sldMk cId="1791971862" sldId="269"/>
            <ac:grpSpMk id="59" creationId="{FFB73DBC-F907-40BA-8BDE-16FA97D6C374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093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9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7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3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677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51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04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69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24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30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34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3A85F-5A81-4A2C-ADB7-CB9A7B252CB6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7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3">
            <a:extLst>
              <a:ext uri="{FF2B5EF4-FFF2-40B4-BE49-F238E27FC236}">
                <a16:creationId xmlns:a16="http://schemas.microsoft.com/office/drawing/2014/main" id="{A7223628-81DB-4D00-A34F-EFE03ACD0417}"/>
              </a:ext>
            </a:extLst>
          </p:cNvPr>
          <p:cNvSpPr/>
          <p:nvPr/>
        </p:nvSpPr>
        <p:spPr>
          <a:xfrm flipH="1" flipV="1">
            <a:off x="4236331" y="119008"/>
            <a:ext cx="5546297" cy="6630135"/>
          </a:xfrm>
          <a:custGeom>
            <a:avLst/>
            <a:gdLst/>
            <a:ahLst/>
            <a:cxnLst/>
            <a:rect l="l" t="t" r="r" b="b"/>
            <a:pathLst>
              <a:path w="10234230" h="14289302">
                <a:moveTo>
                  <a:pt x="0" y="14289302"/>
                </a:moveTo>
                <a:lnTo>
                  <a:pt x="10234230" y="14289302"/>
                </a:lnTo>
                <a:lnTo>
                  <a:pt x="10234230" y="0"/>
                </a:lnTo>
                <a:lnTo>
                  <a:pt x="0" y="0"/>
                </a:lnTo>
                <a:lnTo>
                  <a:pt x="0" y="1428930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6A03D817-1B91-49BA-BB53-55C585DA6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970" y="2930340"/>
            <a:ext cx="2665584" cy="213076"/>
          </a:xfrm>
          <a:prstGeom prst="rect">
            <a:avLst/>
          </a:prstGeom>
        </p:spPr>
      </p:pic>
      <p:grpSp>
        <p:nvGrpSpPr>
          <p:cNvPr id="31" name="그룹 30">
            <a:extLst>
              <a:ext uri="{FF2B5EF4-FFF2-40B4-BE49-F238E27FC236}">
                <a16:creationId xmlns:a16="http://schemas.microsoft.com/office/drawing/2014/main" id="{9634CABE-4CD8-4D7E-B6D3-EFA33C6FDF61}"/>
              </a:ext>
            </a:extLst>
          </p:cNvPr>
          <p:cNvGrpSpPr/>
          <p:nvPr/>
        </p:nvGrpSpPr>
        <p:grpSpPr>
          <a:xfrm>
            <a:off x="594419" y="3146343"/>
            <a:ext cx="5819777" cy="607150"/>
            <a:chOff x="638173" y="2173129"/>
            <a:chExt cx="5556310" cy="60715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A96A542-644D-4A24-ADAE-724B9FD033EA}"/>
                </a:ext>
              </a:extLst>
            </p:cNvPr>
            <p:cNvSpPr txBox="1"/>
            <p:nvPr/>
          </p:nvSpPr>
          <p:spPr>
            <a:xfrm>
              <a:off x="638173" y="2315678"/>
              <a:ext cx="541299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사업명</a:t>
              </a:r>
              <a:r>
                <a:rPr lang="en-US" altLang="ko-KR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(</a:t>
              </a:r>
              <a:r>
                <a:rPr lang="ko-KR" altLang="en-US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요약본</a:t>
              </a:r>
              <a:r>
                <a:rPr lang="en-US" altLang="ko-KR" sz="14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)</a:t>
              </a:r>
              <a:endPara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4A78911-7507-47CC-8DDD-37C0A8F35B32}"/>
                </a:ext>
              </a:extLst>
            </p:cNvPr>
            <p:cNvSpPr txBox="1"/>
            <p:nvPr/>
          </p:nvSpPr>
          <p:spPr>
            <a:xfrm>
              <a:off x="638173" y="2549447"/>
              <a:ext cx="555631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dirty="0" err="1">
                  <a:solidFill>
                    <a:schemeClr val="bg1">
                      <a:lumMod val="7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몇월</a:t>
              </a:r>
              <a:r>
                <a:rPr lang="en-US" altLang="ko-KR" sz="900" dirty="0">
                  <a:solidFill>
                    <a:schemeClr val="bg1">
                      <a:lumMod val="7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(</a:t>
              </a:r>
              <a:r>
                <a:rPr lang="ko-KR" altLang="en-US" sz="900" dirty="0">
                  <a:solidFill>
                    <a:schemeClr val="bg1">
                      <a:lumMod val="7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영어 표시</a:t>
              </a:r>
              <a:r>
                <a:rPr lang="en-US" altLang="ko-KR" sz="900" dirty="0">
                  <a:solidFill>
                    <a:schemeClr val="bg1">
                      <a:lumMod val="7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) </a:t>
              </a:r>
              <a:r>
                <a:rPr lang="ko-KR" altLang="en-US" sz="900" dirty="0" err="1">
                  <a:solidFill>
                    <a:schemeClr val="bg1">
                      <a:lumMod val="7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그해년도</a:t>
              </a:r>
              <a:r>
                <a:rPr lang="en-US" altLang="ko-KR" sz="900" dirty="0">
                  <a:solidFill>
                    <a:schemeClr val="bg1">
                      <a:lumMod val="7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(2026)</a:t>
              </a:r>
              <a:endParaRPr lang="ko-KR" altLang="en-US" sz="9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55632AE-C762-47D6-877A-EFB28D56B2F3}"/>
                </a:ext>
              </a:extLst>
            </p:cNvPr>
            <p:cNvSpPr txBox="1"/>
            <p:nvPr/>
          </p:nvSpPr>
          <p:spPr>
            <a:xfrm>
              <a:off x="657223" y="2173129"/>
              <a:ext cx="4781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Information Memorandum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</p:grpSp>
      <p:sp>
        <p:nvSpPr>
          <p:cNvPr id="8" name="액자 7">
            <a:extLst>
              <a:ext uri="{FF2B5EF4-FFF2-40B4-BE49-F238E27FC236}">
                <a16:creationId xmlns:a16="http://schemas.microsoft.com/office/drawing/2014/main" id="{BF41A14E-39F0-4FFC-B989-DEA9791388B6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CE61509-B4CA-4DD1-B45E-D0ABFE80F1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71" y="127475"/>
            <a:ext cx="907166" cy="193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786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육각형 29">
            <a:extLst>
              <a:ext uri="{FF2B5EF4-FFF2-40B4-BE49-F238E27FC236}">
                <a16:creationId xmlns:a16="http://schemas.microsoft.com/office/drawing/2014/main" id="{14C0127E-A26E-4079-BCF5-4FF5AD83E146}"/>
              </a:ext>
            </a:extLst>
          </p:cNvPr>
          <p:cNvSpPr/>
          <p:nvPr/>
        </p:nvSpPr>
        <p:spPr>
          <a:xfrm>
            <a:off x="1187918" y="1542522"/>
            <a:ext cx="7530164" cy="971045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육각형 30">
            <a:extLst>
              <a:ext uri="{FF2B5EF4-FFF2-40B4-BE49-F238E27FC236}">
                <a16:creationId xmlns:a16="http://schemas.microsoft.com/office/drawing/2014/main" id="{C1B29E0D-1087-4118-89DA-56A025FA802D}"/>
              </a:ext>
            </a:extLst>
          </p:cNvPr>
          <p:cNvSpPr/>
          <p:nvPr/>
        </p:nvSpPr>
        <p:spPr>
          <a:xfrm>
            <a:off x="1323500" y="1523734"/>
            <a:ext cx="7258999" cy="100862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6DCFB6-B3CC-47EA-99D6-7AFB1B33ED07}"/>
              </a:ext>
            </a:extLst>
          </p:cNvPr>
          <p:cNvSpPr txBox="1"/>
          <p:nvPr/>
        </p:nvSpPr>
        <p:spPr>
          <a:xfrm>
            <a:off x="3772535" y="1241901"/>
            <a:ext cx="23609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5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400" dirty="0">
              <a:solidFill>
                <a:schemeClr val="accent5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854F264-B996-4EF5-8ED3-D3FA4BED7453}"/>
              </a:ext>
            </a:extLst>
          </p:cNvPr>
          <p:cNvGrpSpPr/>
          <p:nvPr/>
        </p:nvGrpSpPr>
        <p:grpSpPr>
          <a:xfrm>
            <a:off x="4259371" y="784929"/>
            <a:ext cx="1387258" cy="369812"/>
            <a:chOff x="2323459" y="1248132"/>
            <a:chExt cx="1387258" cy="36981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9DC1874-428B-4C18-AE5E-9C395B10BD5C}"/>
                </a:ext>
              </a:extLst>
            </p:cNvPr>
            <p:cNvSpPr txBox="1"/>
            <p:nvPr/>
          </p:nvSpPr>
          <p:spPr>
            <a:xfrm>
              <a:off x="2756270" y="1340945"/>
              <a:ext cx="95444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제목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47" name="Picture 5">
              <a:extLst>
                <a:ext uri="{FF2B5EF4-FFF2-40B4-BE49-F238E27FC236}">
                  <a16:creationId xmlns:a16="http://schemas.microsoft.com/office/drawing/2014/main" id="{40455801-BEB7-416A-A624-A52D9FE333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23459" y="1248132"/>
              <a:ext cx="432811" cy="369332"/>
            </a:xfrm>
            <a:prstGeom prst="rect">
              <a:avLst/>
            </a:prstGeom>
          </p:spPr>
        </p:pic>
      </p:grpSp>
      <p:sp>
        <p:nvSpPr>
          <p:cNvPr id="48" name="육각형 47">
            <a:extLst>
              <a:ext uri="{FF2B5EF4-FFF2-40B4-BE49-F238E27FC236}">
                <a16:creationId xmlns:a16="http://schemas.microsoft.com/office/drawing/2014/main" id="{D96A902C-58D1-4D00-9ADE-A5557F0D0B0B}"/>
              </a:ext>
            </a:extLst>
          </p:cNvPr>
          <p:cNvSpPr/>
          <p:nvPr/>
        </p:nvSpPr>
        <p:spPr>
          <a:xfrm>
            <a:off x="1187918" y="3319849"/>
            <a:ext cx="7530164" cy="971045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육각형 48">
            <a:extLst>
              <a:ext uri="{FF2B5EF4-FFF2-40B4-BE49-F238E27FC236}">
                <a16:creationId xmlns:a16="http://schemas.microsoft.com/office/drawing/2014/main" id="{98B31954-C8A0-41F3-BC57-D4C12283BEA4}"/>
              </a:ext>
            </a:extLst>
          </p:cNvPr>
          <p:cNvSpPr/>
          <p:nvPr/>
        </p:nvSpPr>
        <p:spPr>
          <a:xfrm>
            <a:off x="1323500" y="3301061"/>
            <a:ext cx="7258999" cy="1008622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182597-EBD9-4385-B02A-CAFA83488202}"/>
              </a:ext>
            </a:extLst>
          </p:cNvPr>
          <p:cNvSpPr txBox="1"/>
          <p:nvPr/>
        </p:nvSpPr>
        <p:spPr>
          <a:xfrm>
            <a:off x="1614746" y="3586790"/>
            <a:ext cx="6338530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국내 최대 </a:t>
            </a:r>
            <a:r>
              <a:rPr lang="ko-KR" alt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디벨로퍼인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㈜신영이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100%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출자로 진행 하는 개발 사업</a:t>
            </a: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Equity 1,170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억 원 기 투입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PF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구조에 따라서 추가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Equity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납입 검토 중인 우량 사업장</a:t>
            </a: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5" name="육각형 54">
            <a:extLst>
              <a:ext uri="{FF2B5EF4-FFF2-40B4-BE49-F238E27FC236}">
                <a16:creationId xmlns:a16="http://schemas.microsoft.com/office/drawing/2014/main" id="{4307F882-37A5-4C81-98D4-14C0D1C82C2B}"/>
              </a:ext>
            </a:extLst>
          </p:cNvPr>
          <p:cNvSpPr/>
          <p:nvPr/>
        </p:nvSpPr>
        <p:spPr>
          <a:xfrm>
            <a:off x="1187918" y="5102027"/>
            <a:ext cx="7530164" cy="971045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육각형 55">
            <a:extLst>
              <a:ext uri="{FF2B5EF4-FFF2-40B4-BE49-F238E27FC236}">
                <a16:creationId xmlns:a16="http://schemas.microsoft.com/office/drawing/2014/main" id="{C8138F0A-7808-4797-AF97-5D44A8947A08}"/>
              </a:ext>
            </a:extLst>
          </p:cNvPr>
          <p:cNvSpPr/>
          <p:nvPr/>
        </p:nvSpPr>
        <p:spPr>
          <a:xfrm>
            <a:off x="1323500" y="5083240"/>
            <a:ext cx="7258999" cy="1008620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B5F326-924B-467C-B0BE-00CD4BBB220C}"/>
              </a:ext>
            </a:extLst>
          </p:cNvPr>
          <p:cNvSpPr txBox="1"/>
          <p:nvPr/>
        </p:nvSpPr>
        <p:spPr>
          <a:xfrm>
            <a:off x="1640103" y="5280487"/>
            <a:ext cx="6560559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2021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08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토지계약 하여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중도금 및 잔금 납부로 부지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100%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확보</a:t>
            </a: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건축허가 완료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(25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8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변경 허가 완료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 ,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도급계약 완료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(26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1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21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일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동원건설산업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만기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2027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3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28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일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예정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로 잔존 만기 약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12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개월</a:t>
            </a: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E5A4E9-80DA-4692-B715-A813E38A7C5E}"/>
              </a:ext>
            </a:extLst>
          </p:cNvPr>
          <p:cNvSpPr txBox="1"/>
          <p:nvPr/>
        </p:nvSpPr>
        <p:spPr>
          <a:xfrm>
            <a:off x="1641638" y="1830856"/>
            <a:ext cx="6743834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홍대입구역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번 출구에서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50M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도보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5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분내 접근 가능한 위치에서 진행하는 개발 사업</a:t>
            </a: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트리플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역세권과 대학교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경의선 숲길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연남동의 주요 상권에 인접한 입지로 풍부한 배후 수요</a:t>
            </a: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17CA2D-D2FC-4820-948D-082385DBD7E3}"/>
              </a:ext>
            </a:extLst>
          </p:cNvPr>
          <p:cNvSpPr txBox="1"/>
          <p:nvPr/>
        </p:nvSpPr>
        <p:spPr>
          <a:xfrm>
            <a:off x="3772537" y="3066828"/>
            <a:ext cx="23609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5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400" dirty="0">
              <a:solidFill>
                <a:schemeClr val="accent5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2A3725E-061B-48C4-BC36-39BA366FF7CE}"/>
              </a:ext>
            </a:extLst>
          </p:cNvPr>
          <p:cNvGrpSpPr/>
          <p:nvPr/>
        </p:nvGrpSpPr>
        <p:grpSpPr>
          <a:xfrm>
            <a:off x="4259373" y="2609856"/>
            <a:ext cx="1387258" cy="369812"/>
            <a:chOff x="2323459" y="1248132"/>
            <a:chExt cx="1387258" cy="36981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11114AE-019A-49F2-8541-4846F5A7F48F}"/>
                </a:ext>
              </a:extLst>
            </p:cNvPr>
            <p:cNvSpPr txBox="1"/>
            <p:nvPr/>
          </p:nvSpPr>
          <p:spPr>
            <a:xfrm>
              <a:off x="2756270" y="1340945"/>
              <a:ext cx="95444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제목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28" name="Picture 5">
              <a:extLst>
                <a:ext uri="{FF2B5EF4-FFF2-40B4-BE49-F238E27FC236}">
                  <a16:creationId xmlns:a16="http://schemas.microsoft.com/office/drawing/2014/main" id="{FC2140A4-20FC-48D1-A7F0-40D297A4B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23459" y="1248132"/>
              <a:ext cx="432811" cy="369332"/>
            </a:xfrm>
            <a:prstGeom prst="rect">
              <a:avLst/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04A25A8B-B76B-46AB-B2C5-5EB6725C8E44}"/>
              </a:ext>
            </a:extLst>
          </p:cNvPr>
          <p:cNvSpPr txBox="1"/>
          <p:nvPr/>
        </p:nvSpPr>
        <p:spPr>
          <a:xfrm>
            <a:off x="3772535" y="4898379"/>
            <a:ext cx="23609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accent5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400" dirty="0">
              <a:solidFill>
                <a:schemeClr val="accent5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D623340-CF2D-4B45-83CB-9FEFBB2A3D49}"/>
              </a:ext>
            </a:extLst>
          </p:cNvPr>
          <p:cNvGrpSpPr/>
          <p:nvPr/>
        </p:nvGrpSpPr>
        <p:grpSpPr>
          <a:xfrm>
            <a:off x="4259371" y="4441407"/>
            <a:ext cx="1387258" cy="369812"/>
            <a:chOff x="2323459" y="1248132"/>
            <a:chExt cx="1387258" cy="36981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BC0021A-C465-46FD-9CE8-790951B016F9}"/>
                </a:ext>
              </a:extLst>
            </p:cNvPr>
            <p:cNvSpPr txBox="1"/>
            <p:nvPr/>
          </p:nvSpPr>
          <p:spPr>
            <a:xfrm>
              <a:off x="2756270" y="1340945"/>
              <a:ext cx="95444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제목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35" name="Picture 5">
              <a:extLst>
                <a:ext uri="{FF2B5EF4-FFF2-40B4-BE49-F238E27FC236}">
                  <a16:creationId xmlns:a16="http://schemas.microsoft.com/office/drawing/2014/main" id="{F3CDEA1C-315E-448D-AC22-D07233638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23459" y="1248132"/>
              <a:ext cx="432811" cy="3693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91971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DDFA0B72-8A49-41C6-868A-9EA484D4F14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8906" t="-6013" r="-18360" b="-2212"/>
          <a:stretch/>
        </p:blipFill>
        <p:spPr>
          <a:xfrm>
            <a:off x="224599" y="4998141"/>
            <a:ext cx="4478029" cy="165665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015C6F44-6AA2-4FB6-82BB-DF652FEF5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455774"/>
              </p:ext>
            </p:extLst>
          </p:nvPr>
        </p:nvGraphicFramePr>
        <p:xfrm>
          <a:off x="224599" y="2551320"/>
          <a:ext cx="4478029" cy="2188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8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96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245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금융구조</a:t>
                      </a: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부동산담보대출</a:t>
                      </a: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5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차주</a:t>
                      </a: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SY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신도시개발</a:t>
                      </a: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109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대출금액 및 </a:t>
                      </a:r>
                    </a:p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조건</a:t>
                      </a: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피플폰트 Light" panose="020B0600000101010101" pitchFamily="50" charset="-127"/>
                        <a:ea typeface="피플폰트 Light" panose="020B0600000101010101" pitchFamily="50" charset="-127"/>
                      </a:endParaRPr>
                    </a:p>
                    <a:p>
                      <a:pPr latinLnBrk="1"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피플폰트 Light" panose="020B0600000101010101" pitchFamily="50" charset="-127"/>
                        <a:ea typeface="피플폰트 Light" panose="020B0600000101010101" pitchFamily="50" charset="-127"/>
                      </a:endParaRPr>
                    </a:p>
                    <a:p>
                      <a:pPr latinLnBrk="1"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피플폰트 Light" panose="020B0600000101010101" pitchFamily="50" charset="-127"/>
                        <a:ea typeface="피플폰트 Light" panose="020B0600000101010101" pitchFamily="50" charset="-127"/>
                      </a:endParaRPr>
                    </a:p>
                    <a:p>
                      <a:pPr latinLnBrk="1"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피플폰트 Light" panose="020B0600000101010101" pitchFamily="50" charset="-127"/>
                          <a:ea typeface="피플폰트 Light" panose="020B0600000101010101" pitchFamily="50" charset="-127"/>
                        </a:rPr>
                        <a:t>※ LTV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피플폰트 Light" panose="020B0600000101010101" pitchFamily="50" charset="-127"/>
                          <a:ea typeface="피플폰트 Light" panose="020B0600000101010101" pitchFamily="50" charset="-127"/>
                        </a:rPr>
                        <a:t>대일감정평가법인 감정평가금액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피플폰트 Light" panose="020B0600000101010101" pitchFamily="50" charset="-127"/>
                          <a:ea typeface="피플폰트 Light" panose="020B0600000101010101" pitchFamily="50" charset="-127"/>
                        </a:rPr>
                        <a:t>2,770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피플폰트 Light" panose="020B0600000101010101" pitchFamily="50" charset="-127"/>
                          <a:ea typeface="피플폰트 Light" panose="020B0600000101010101" pitchFamily="50" charset="-127"/>
                        </a:rPr>
                        <a:t>억원 기준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피플폰트 Light" panose="020B0600000101010101" pitchFamily="50" charset="-127"/>
                          <a:ea typeface="피플폰트 Light" panose="020B0600000101010101" pitchFamily="50" charset="-127"/>
                        </a:rPr>
                        <a:t>(’26.02.)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피플폰트 Light" panose="020B0600000101010101" pitchFamily="50" charset="-127"/>
                        <a:ea typeface="피플폰트 Light" panose="020B0600000101010101" pitchFamily="50" charset="-127"/>
                      </a:endParaRP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964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주요</a:t>
                      </a:r>
                      <a:endParaRPr lang="en-US" altLang="ko-KR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채권보전</a:t>
                      </a: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본건 </a:t>
                      </a:r>
                      <a:r>
                        <a:rPr lang="ko-KR" altLang="en-US" sz="900" b="1" u="sng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부동산담보신탁 </a:t>
                      </a:r>
                      <a:r>
                        <a:rPr lang="en-US" altLang="ko-KR" sz="900" b="1" u="sng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 </a:t>
                      </a:r>
                      <a:r>
                        <a:rPr lang="ko-KR" altLang="en-US" sz="900" b="1" u="sng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순위 우선수익권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설정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대출약정금의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130%)</a:t>
                      </a:r>
                    </a:p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본건 대출원리금에 대한 </a:t>
                      </a:r>
                      <a:r>
                        <a:rPr lang="ko-KR" altLang="en-US" sz="900" b="1" u="sng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㈜신영의 연대보증</a:t>
                      </a:r>
                    </a:p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차주 주식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2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순위 </a:t>
                      </a: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근질권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설정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대출약정금의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130%)</a:t>
                      </a:r>
                    </a:p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차주 </a:t>
                      </a: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시행권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포기각서 제출</a:t>
                      </a:r>
                    </a:p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최초인출일 직전 영업일까지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6</a:t>
                      </a: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개월분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이자 </a:t>
                      </a: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유보ㄹ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055501"/>
                  </a:ext>
                </a:extLst>
              </a:tr>
              <a:tr h="15245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대출기간</a:t>
                      </a: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최초 인출일로부터 </a:t>
                      </a:r>
                      <a:r>
                        <a:rPr 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12</a:t>
                      </a:r>
                      <a:r>
                        <a:rPr lang="ko-KR" alt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개월</a:t>
                      </a:r>
                      <a:r>
                        <a:rPr 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(</a:t>
                      </a:r>
                      <a:r>
                        <a:rPr lang="ko-KR" alt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대출 만기 </a:t>
                      </a:r>
                      <a:r>
                        <a:rPr 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2026</a:t>
                      </a:r>
                      <a:r>
                        <a:rPr lang="ko-KR" alt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년</a:t>
                      </a:r>
                      <a:r>
                        <a:rPr 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3</a:t>
                      </a:r>
                      <a:r>
                        <a:rPr lang="ko-KR" alt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월</a:t>
                      </a:r>
                      <a:r>
                        <a:rPr 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28</a:t>
                      </a:r>
                      <a:r>
                        <a:rPr lang="ko-KR" alt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일</a:t>
                      </a:r>
                      <a:r>
                        <a:rPr lang="en-US" sz="900" b="0" u="sng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)</a:t>
                      </a:r>
                      <a:endParaRPr lang="ko-KR" altLang="en-US" sz="900" b="0" u="sng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33513" marR="33513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36B378D-DD39-40E2-B74B-D0C51F1023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95266"/>
              </p:ext>
            </p:extLst>
          </p:nvPr>
        </p:nvGraphicFramePr>
        <p:xfrm>
          <a:off x="1023163" y="2929633"/>
          <a:ext cx="3577411" cy="484128"/>
        </p:xfrm>
        <a:graphic>
          <a:graphicData uri="http://schemas.openxmlformats.org/drawingml/2006/table">
            <a:tbl>
              <a:tblPr firstRow="1" bandRow="1">
                <a:effectLst>
                  <a:outerShdw blurRad="127000" sx="101000" sy="101000" algn="ctr" rotWithShape="0">
                    <a:prstClr val="black">
                      <a:alpha val="20000"/>
                    </a:prstClr>
                  </a:outerShdw>
                </a:effectLst>
                <a:tableStyleId>{5C22544A-7EE6-4342-B048-85BDC9FD1C3A}</a:tableStyleId>
              </a:tblPr>
              <a:tblGrid>
                <a:gridCol w="964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42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144">
                  <a:extLst>
                    <a:ext uri="{9D8B030D-6E8A-4147-A177-3AD203B41FA5}">
                      <a16:colId xmlns:a16="http://schemas.microsoft.com/office/drawing/2014/main" val="1942631606"/>
                    </a:ext>
                  </a:extLst>
                </a:gridCol>
              </a:tblGrid>
              <a:tr h="16137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구분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Tr.A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Tr.B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본건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37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대출금액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1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[ 1,200 ]</a:t>
                      </a:r>
                      <a:r>
                        <a:rPr lang="ko-KR" altLang="en-US" sz="900" b="1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억원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1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[ 250 ]</a:t>
                      </a:r>
                      <a:r>
                        <a:rPr lang="ko-KR" altLang="en-US" sz="900" b="1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억원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9771107"/>
                  </a:ext>
                </a:extLst>
              </a:tr>
              <a:tr h="16137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LTV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1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[ 43.32 ]%</a:t>
                      </a:r>
                      <a:endParaRPr lang="ko-KR" altLang="en-US" sz="900" b="1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1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[ 52.34 ]%</a:t>
                      </a:r>
                      <a:endParaRPr lang="ko-KR" altLang="en-US" sz="900" b="1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460269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9067509E-93BA-42CE-AB59-E2E44442DA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22861"/>
              </p:ext>
            </p:extLst>
          </p:nvPr>
        </p:nvGraphicFramePr>
        <p:xfrm>
          <a:off x="4828883" y="5217692"/>
          <a:ext cx="4852516" cy="14371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36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1150">
                  <a:extLst>
                    <a:ext uri="{9D8B030D-6E8A-4147-A177-3AD203B41FA5}">
                      <a16:colId xmlns:a16="http://schemas.microsoft.com/office/drawing/2014/main" val="2540065300"/>
                    </a:ext>
                  </a:extLst>
                </a:gridCol>
                <a:gridCol w="1101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2716">
                  <a:extLst>
                    <a:ext uri="{9D8B030D-6E8A-4147-A177-3AD203B41FA5}">
                      <a16:colId xmlns:a16="http://schemas.microsoft.com/office/drawing/2014/main" val="1335951591"/>
                    </a:ext>
                  </a:extLst>
                </a:gridCol>
                <a:gridCol w="903685">
                  <a:extLst>
                    <a:ext uri="{9D8B030D-6E8A-4147-A177-3AD203B41FA5}">
                      <a16:colId xmlns:a16="http://schemas.microsoft.com/office/drawing/2014/main" val="2542008248"/>
                    </a:ext>
                  </a:extLst>
                </a:gridCol>
              </a:tblGrid>
              <a:tr h="301113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구분</a:t>
                      </a:r>
                      <a:endParaRPr lang="en-US" altLang="ko-KR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단위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: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백만 원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2025. 12(</a:t>
                      </a: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가결산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2024.12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2023.12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2022.12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969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자산총계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1,724,107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1,720,571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1,226,530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1,237,760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595979"/>
                  </a:ext>
                </a:extLst>
              </a:tr>
              <a:tr h="160969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부채총계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1,058,862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1,124,716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933,932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897,337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017971"/>
                  </a:ext>
                </a:extLst>
              </a:tr>
              <a:tr h="160969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자본총계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665,244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595,856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292,598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340,424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979982"/>
                  </a:ext>
                </a:extLst>
              </a:tr>
              <a:tr h="160969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자본금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11,352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11,352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10,000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10,000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7471124"/>
                  </a:ext>
                </a:extLst>
              </a:tr>
              <a:tr h="160969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매출액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216,260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367,707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261,514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85,791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0140566"/>
                  </a:ext>
                </a:extLst>
              </a:tr>
              <a:tr h="160969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영업이익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60,350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59,743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19,936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(21,044)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870694"/>
                  </a:ext>
                </a:extLst>
              </a:tr>
              <a:tr h="160969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당기순이익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69,801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239,917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(44,153)</a:t>
                      </a:r>
                      <a:endParaRPr lang="ko-KR" altLang="en-US" sz="900" b="0" kern="120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(44,353)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79754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5E0AC8A-44A9-4ACF-B1EB-84CFB0706006}"/>
              </a:ext>
            </a:extLst>
          </p:cNvPr>
          <p:cNvSpPr txBox="1"/>
          <p:nvPr/>
        </p:nvSpPr>
        <p:spPr>
          <a:xfrm>
            <a:off x="4828883" y="5002248"/>
            <a:ext cx="2233075" cy="2308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/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연대보증사 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주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신영 주요 재무제표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EAE9B8-4F28-4A3D-8A01-6291D6241A1C}"/>
              </a:ext>
            </a:extLst>
          </p:cNvPr>
          <p:cNvSpPr txBox="1"/>
          <p:nvPr/>
        </p:nvSpPr>
        <p:spPr>
          <a:xfrm>
            <a:off x="4828883" y="3791403"/>
            <a:ext cx="1467491" cy="2308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/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연대보증사 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주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신영 법인개요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D06F02C3-0860-4D33-852E-E8E237857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097604"/>
              </p:ext>
            </p:extLst>
          </p:nvPr>
        </p:nvGraphicFramePr>
        <p:xfrm>
          <a:off x="4813302" y="3992365"/>
          <a:ext cx="4868099" cy="97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1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621">
                  <a:extLst>
                    <a:ext uri="{9D8B030D-6E8A-4147-A177-3AD203B41FA5}">
                      <a16:colId xmlns:a16="http://schemas.microsoft.com/office/drawing/2014/main" val="1335951591"/>
                    </a:ext>
                  </a:extLst>
                </a:gridCol>
                <a:gridCol w="1492705">
                  <a:extLst>
                    <a:ext uri="{9D8B030D-6E8A-4147-A177-3AD203B41FA5}">
                      <a16:colId xmlns:a16="http://schemas.microsoft.com/office/drawing/2014/main" val="790720722"/>
                    </a:ext>
                  </a:extLst>
                </a:gridCol>
              </a:tblGrid>
              <a:tr h="16192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회사명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㈜신영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사업자번호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120-81-52188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설립일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1989.03.23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법인등록번호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110111-0618178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대표자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손종구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자본금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11,352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백만원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644157"/>
                  </a:ext>
                </a:extLst>
              </a:tr>
              <a:tr h="16192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본점소재지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서울시 강남구 영동대로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517, 1401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호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삼성동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주요사업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부동산업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주택신축업 등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8389435"/>
                  </a:ext>
                </a:extLst>
              </a:tr>
              <a:tr h="16192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주요주주</a:t>
                      </a: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정춘보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(85.43%), </a:t>
                      </a: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정무경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(14.57%)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62865" marR="62865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0375962"/>
                  </a:ext>
                </a:extLst>
              </a:tr>
            </a:tbl>
          </a:graphicData>
        </a:graphic>
      </p:graphicFrame>
      <p:graphicFrame>
        <p:nvGraphicFramePr>
          <p:cNvPr id="18" name="표 16">
            <a:extLst>
              <a:ext uri="{FF2B5EF4-FFF2-40B4-BE49-F238E27FC236}">
                <a16:creationId xmlns:a16="http://schemas.microsoft.com/office/drawing/2014/main" id="{4F870127-2CDB-43B1-AD7F-FE47CC8C2B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027337"/>
              </p:ext>
            </p:extLst>
          </p:nvPr>
        </p:nvGraphicFramePr>
        <p:xfrm>
          <a:off x="224600" y="360203"/>
          <a:ext cx="4478029" cy="1944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8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사모사채명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제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1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회 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 유형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국내 전자등록 또는 실물 발행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발행인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기초자산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서울특별시 마포구 동교동 주상복합 신축사업 후순위 담보대출채권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발행금액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60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₩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6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,000,000,000 )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2026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 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03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30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만기일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2027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03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28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일 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잔존만기 기준 투자기간 약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12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금융조건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채권 금리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: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연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[ 7.00 ]% 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고정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세전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rgbClr val="FF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49041"/>
                  </a:ext>
                </a:extLst>
              </a:tr>
              <a:tr h="21609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이자지급주기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[3]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 단위 후취 또는 전액 후취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421565"/>
                  </a:ext>
                </a:extLst>
              </a:tr>
            </a:tbl>
          </a:graphicData>
        </a:graphic>
      </p:graphicFrame>
      <p:pic>
        <p:nvPicPr>
          <p:cNvPr id="21" name="그림 20">
            <a:extLst>
              <a:ext uri="{FF2B5EF4-FFF2-40B4-BE49-F238E27FC236}">
                <a16:creationId xmlns:a16="http://schemas.microsoft.com/office/drawing/2014/main" id="{EA107C45-0DFB-4E1E-90F0-48265B956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00" y="203200"/>
            <a:ext cx="1504188" cy="107950"/>
          </a:xfrm>
          <a:prstGeom prst="rect">
            <a:avLst/>
          </a:prstGeom>
        </p:spPr>
      </p:pic>
      <p:sp>
        <p:nvSpPr>
          <p:cNvPr id="17" name="액자 16">
            <a:extLst>
              <a:ext uri="{FF2B5EF4-FFF2-40B4-BE49-F238E27FC236}">
                <a16:creationId xmlns:a16="http://schemas.microsoft.com/office/drawing/2014/main" id="{BDFE1491-F180-4DEA-8A15-4CBB9F4492CD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7D79E57-FB84-4BD1-9573-FB8A8698DAD7}"/>
              </a:ext>
            </a:extLst>
          </p:cNvPr>
          <p:cNvGrpSpPr/>
          <p:nvPr/>
        </p:nvGrpSpPr>
        <p:grpSpPr>
          <a:xfrm>
            <a:off x="4813302" y="360203"/>
            <a:ext cx="4868097" cy="1697355"/>
            <a:chOff x="224599" y="4442011"/>
            <a:chExt cx="4478030" cy="186353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20C1769-B066-48A2-BA23-9720C98F08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38722"/>
            <a:stretch/>
          </p:blipFill>
          <p:spPr>
            <a:xfrm>
              <a:off x="2354189" y="4442011"/>
              <a:ext cx="2348440" cy="1863539"/>
            </a:xfrm>
            <a:prstGeom prst="rect">
              <a:avLst/>
            </a:prstGeom>
          </p:spPr>
        </p:pic>
        <p:pic>
          <p:nvPicPr>
            <p:cNvPr id="19" name="docshape88">
              <a:extLst>
                <a:ext uri="{FF2B5EF4-FFF2-40B4-BE49-F238E27FC236}">
                  <a16:creationId xmlns:a16="http://schemas.microsoft.com/office/drawing/2014/main" id="{F40ADA0B-5FB4-4D4F-965C-E3A4EC54C120}"/>
                </a:ext>
              </a:extLst>
            </p:cNvPr>
            <p:cNvPicPr/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3" t="12315" r="-238" b="12911"/>
            <a:stretch/>
          </p:blipFill>
          <p:spPr bwMode="auto">
            <a:xfrm>
              <a:off x="224599" y="4442011"/>
              <a:ext cx="2084718" cy="1863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9CC93D6-D79C-456D-B8BC-8900A9284217}"/>
              </a:ext>
            </a:extLst>
          </p:cNvPr>
          <p:cNvSpPr txBox="1"/>
          <p:nvPr/>
        </p:nvSpPr>
        <p:spPr>
          <a:xfrm>
            <a:off x="242948" y="2350265"/>
            <a:ext cx="1467491" cy="2308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/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기조자산 담보대출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7E9328-1AB9-452A-95B4-720D93E16ABF}"/>
              </a:ext>
            </a:extLst>
          </p:cNvPr>
          <p:cNvSpPr txBox="1"/>
          <p:nvPr/>
        </p:nvSpPr>
        <p:spPr>
          <a:xfrm>
            <a:off x="242948" y="4767309"/>
            <a:ext cx="1467491" cy="2308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/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금융구조도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7FF97CA-23F8-46CD-9314-81F6F7A004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969547"/>
              </p:ext>
            </p:extLst>
          </p:nvPr>
        </p:nvGraphicFramePr>
        <p:xfrm>
          <a:off x="4813303" y="2268161"/>
          <a:ext cx="4868097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2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5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64603">
                  <a:extLst>
                    <a:ext uri="{9D8B030D-6E8A-4147-A177-3AD203B41FA5}">
                      <a16:colId xmlns:a16="http://schemas.microsoft.com/office/drawing/2014/main" val="367595970"/>
                    </a:ext>
                  </a:extLst>
                </a:gridCol>
              </a:tblGrid>
              <a:tr h="164046">
                <a:tc rowSpan="7"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완료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’22.09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건축허가 접수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046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’22.10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기존 건축물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(KT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신촌지사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)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해체 완료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046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’22.12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지구단위계획 변경 결정고시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046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’23.02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최초 건축허가 득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046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’24.01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변경 건축허가 득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(1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차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, 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평면 수정</a:t>
                      </a: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046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’25.08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변경 건축허가 득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(3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차 오피스텔 부분 발코니 창호 설치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528825"/>
                  </a:ext>
                </a:extLst>
              </a:tr>
              <a:tr h="164046">
                <a:tc vMerge="1"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’26.01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도급계약 체결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동원건설산업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 2026.01.21)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4984039"/>
                  </a:ext>
                </a:extLst>
              </a:tr>
              <a:tr h="16404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예정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’26.4Q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 rtl="0" eaLnBrk="1" latinLnBrk="1" hangingPunct="1">
                        <a:lnSpc>
                          <a:spcPct val="150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tabLst>
                          <a:tab pos="457200" algn="l"/>
                        </a:tabLst>
                        <a:defRPr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PF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대출 및 착공 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(</a:t>
                      </a:r>
                      <a:r>
                        <a:rPr lang="ko-KR" altLang="en-US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본 건 상환</a:t>
                      </a: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피플폰트 Light" panose="020B0600000101010101" charset="-127"/>
                          <a:ea typeface="피플폰트 Light" panose="020B0600000101010101" charset="-127"/>
                          <a:cs typeface="+mn-cs"/>
                        </a:rPr>
                        <a:t>)</a:t>
                      </a:r>
                      <a:endParaRPr lang="ko-KR" altLang="en-US" sz="900" b="0" kern="1200" dirty="0">
                        <a:solidFill>
                          <a:schemeClr val="tx1"/>
                        </a:solidFill>
                        <a:latin typeface="피플폰트 Light" panose="020B0600000101010101" charset="-127"/>
                        <a:ea typeface="피플폰트 Light" panose="020B0600000101010101" charset="-127"/>
                        <a:cs typeface="+mn-cs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58299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055B9265-5AAB-4BA5-8646-EFF3B7873086}"/>
              </a:ext>
            </a:extLst>
          </p:cNvPr>
          <p:cNvSpPr txBox="1"/>
          <p:nvPr/>
        </p:nvSpPr>
        <p:spPr>
          <a:xfrm>
            <a:off x="4828883" y="2062267"/>
            <a:ext cx="1806643" cy="23083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/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사업일정</a:t>
            </a:r>
            <a:endParaRPr lang="ko-KR" altLang="en-US" sz="8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5590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7EB92DB-D6D6-40B6-BFC1-994521FC859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080" t="17953" r="15204" b="17142"/>
          <a:stretch/>
        </p:blipFill>
        <p:spPr>
          <a:xfrm>
            <a:off x="2556932" y="351616"/>
            <a:ext cx="4775201" cy="43772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74E7A9-78B0-4588-8C1D-6DE1105B6923}"/>
              </a:ext>
            </a:extLst>
          </p:cNvPr>
          <p:cNvSpPr txBox="1"/>
          <p:nvPr/>
        </p:nvSpPr>
        <p:spPr>
          <a:xfrm>
            <a:off x="3543300" y="6311054"/>
            <a:ext cx="2819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End of Document</a:t>
            </a:r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" name="액자 7">
            <a:extLst>
              <a:ext uri="{FF2B5EF4-FFF2-40B4-BE49-F238E27FC236}">
                <a16:creationId xmlns:a16="http://schemas.microsoft.com/office/drawing/2014/main" id="{47D09B23-F7CF-41E4-B38F-5F6F55C039C7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D6916-6366-4BAC-A420-78CFB3961D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6085" y="4966567"/>
            <a:ext cx="6432102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19118" indent="-219118">
              <a:defRPr/>
            </a:pPr>
            <a:r>
              <a:rPr lang="ko-KR" altLang="en-US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본 자료와 관련하여 문의사항이 있으실 경우 아래의 담당자에게 언제든지 연락하여 주시면 성심껏 답변하여 드리겠습니다</a:t>
            </a:r>
            <a:r>
              <a:rPr lang="en-US" altLang="ko-KR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.</a:t>
            </a:r>
            <a:endParaRPr lang="ko-KR" altLang="en-US" sz="1000" b="1" kern="0" dirty="0">
              <a:solidFill>
                <a:sysClr val="windowText" lastClr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  <a:cs typeface="Arial" pitchFamily="34" charset="0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6A5CB35A-6CD0-4565-AF06-70C2227D3667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6085" y="5212788"/>
          <a:ext cx="7473830" cy="1054824"/>
        </p:xfrm>
        <a:graphic>
          <a:graphicData uri="http://schemas.openxmlformats.org/drawingml/2006/table">
            <a:tbl>
              <a:tblPr firstRow="1" bandRow="1"/>
              <a:tblGrid>
                <a:gridCol w="1109804">
                  <a:extLst>
                    <a:ext uri="{9D8B030D-6E8A-4147-A177-3AD203B41FA5}">
                      <a16:colId xmlns:a16="http://schemas.microsoft.com/office/drawing/2014/main" val="3489200769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3330462320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1890356954"/>
                    </a:ext>
                  </a:extLst>
                </a:gridCol>
                <a:gridCol w="2516412">
                  <a:extLst>
                    <a:ext uri="{9D8B030D-6E8A-4147-A177-3AD203B41FA5}">
                      <a16:colId xmlns:a16="http://schemas.microsoft.com/office/drawing/2014/main" val="4272298019"/>
                    </a:ext>
                  </a:extLst>
                </a:gridCol>
                <a:gridCol w="1628006">
                  <a:extLst>
                    <a:ext uri="{9D8B030D-6E8A-4147-A177-3AD203B41FA5}">
                      <a16:colId xmlns:a16="http://schemas.microsoft.com/office/drawing/2014/main" val="2375832908"/>
                    </a:ext>
                  </a:extLst>
                </a:gridCol>
              </a:tblGrid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직급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E-mail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연락처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827196"/>
                  </a:ext>
                </a:extLst>
              </a:tr>
              <a:tr h="26370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대표이사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박광희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pkh@rainfieldinv.com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010-4490-2050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478623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투자금융본부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최재영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cjy@rainfieldinv.com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010-3090-3576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069950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대체투자본부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이주호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ljh@rainfieldinv.com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010-5054-9208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814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827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635</TotalTime>
  <Words>552</Words>
  <Application>Microsoft Office PowerPoint</Application>
  <PresentationFormat>A4 용지(210x297mm)</PresentationFormat>
  <Paragraphs>165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맑은 고딕</vt:lpstr>
      <vt:lpstr>Batang</vt:lpstr>
      <vt:lpstr>피플폰트 Bold</vt:lpstr>
      <vt:lpstr>피플폰트 Light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레인필드투자자문</dc:creator>
  <cp:lastModifiedBy>장찬희</cp:lastModifiedBy>
  <cp:revision>68</cp:revision>
  <dcterms:created xsi:type="dcterms:W3CDTF">2026-02-10T06:23:32Z</dcterms:created>
  <dcterms:modified xsi:type="dcterms:W3CDTF">2026-08-10T06:39:10Z</dcterms:modified>
</cp:coreProperties>
</file>