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9" r:id="rId3"/>
    <p:sldId id="256" r:id="rId4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EAB"/>
    <a:srgbClr val="2E75B6"/>
    <a:srgbClr val="FFFFFF"/>
    <a:srgbClr val="73A9DB"/>
    <a:srgbClr val="002E56"/>
    <a:srgbClr val="01254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60"/>
  </p:normalViewPr>
  <p:slideViewPr>
    <p:cSldViewPr snapToGrid="0">
      <p:cViewPr>
        <p:scale>
          <a:sx n="125" d="100"/>
          <a:sy n="125" d="100"/>
        </p:scale>
        <p:origin x="68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09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9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71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3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677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51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6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24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30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3A85F-5A81-4A2C-ADB7-CB9A7B252CB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74658-25F2-4CD8-805D-4B57EA246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7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3">
            <a:extLst>
              <a:ext uri="{FF2B5EF4-FFF2-40B4-BE49-F238E27FC236}">
                <a16:creationId xmlns:a16="http://schemas.microsoft.com/office/drawing/2014/main" id="{A7223628-81DB-4D00-A34F-EFE03ACD0417}"/>
              </a:ext>
            </a:extLst>
          </p:cNvPr>
          <p:cNvSpPr/>
          <p:nvPr/>
        </p:nvSpPr>
        <p:spPr>
          <a:xfrm flipH="1" flipV="1">
            <a:off x="4236331" y="119008"/>
            <a:ext cx="5546297" cy="6630135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A03D817-1B91-49BA-BB53-55C585DA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0" y="2930340"/>
            <a:ext cx="2665584" cy="213076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9634CABE-4CD8-4D7E-B6D3-EFA33C6FDF61}"/>
              </a:ext>
            </a:extLst>
          </p:cNvPr>
          <p:cNvGrpSpPr/>
          <p:nvPr/>
        </p:nvGrpSpPr>
        <p:grpSpPr>
          <a:xfrm>
            <a:off x="594419" y="3146343"/>
            <a:ext cx="5819777" cy="607150"/>
            <a:chOff x="638173" y="2173129"/>
            <a:chExt cx="5556310" cy="60715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96A542-644D-4A24-ADAE-724B9FD033EA}"/>
                </a:ext>
              </a:extLst>
            </p:cNvPr>
            <p:cNvSpPr txBox="1"/>
            <p:nvPr/>
          </p:nvSpPr>
          <p:spPr>
            <a:xfrm>
              <a:off x="638173" y="2315678"/>
              <a:ext cx="54129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서울시 마포구 동교동 주상복합 신축사업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담보대출 사모사채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제안서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요약본</a:t>
              </a:r>
              <a:r>
                <a:rPr lang="en-US" altLang="ko-KR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)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4A78911-7507-47CC-8DDD-37C0A8F35B32}"/>
                </a:ext>
              </a:extLst>
            </p:cNvPr>
            <p:cNvSpPr txBox="1"/>
            <p:nvPr/>
          </p:nvSpPr>
          <p:spPr>
            <a:xfrm>
              <a:off x="638173" y="2549447"/>
              <a:ext cx="55563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 February 2026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55632AE-C762-47D6-877A-EFB28D56B2F3}"/>
                </a:ext>
              </a:extLst>
            </p:cNvPr>
            <p:cNvSpPr txBox="1"/>
            <p:nvPr/>
          </p:nvSpPr>
          <p:spPr>
            <a:xfrm>
              <a:off x="657223" y="2173129"/>
              <a:ext cx="47815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Information Memorandum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</p:grpSp>
      <p:sp>
        <p:nvSpPr>
          <p:cNvPr id="8" name="액자 7">
            <a:extLst>
              <a:ext uri="{FF2B5EF4-FFF2-40B4-BE49-F238E27FC236}">
                <a16:creationId xmlns:a16="http://schemas.microsoft.com/office/drawing/2014/main" id="{BF41A14E-39F0-4FFC-B989-DEA9791388B6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E61509-B4CA-4DD1-B45E-D0ABFE80F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71" y="127475"/>
            <a:ext cx="907166" cy="1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86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49F0D632-9C35-4CC7-ABDB-2357C9C4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00" y="203200"/>
            <a:ext cx="1415504" cy="107950"/>
          </a:xfrm>
          <a:prstGeom prst="rect">
            <a:avLst/>
          </a:prstGeom>
        </p:spPr>
      </p:pic>
      <p:sp>
        <p:nvSpPr>
          <p:cNvPr id="29" name="액자 28">
            <a:extLst>
              <a:ext uri="{FF2B5EF4-FFF2-40B4-BE49-F238E27FC236}">
                <a16:creationId xmlns:a16="http://schemas.microsoft.com/office/drawing/2014/main" id="{DD26EF3D-6FEC-4A5D-B47C-2ABBC82E6065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육각형 29">
            <a:extLst>
              <a:ext uri="{FF2B5EF4-FFF2-40B4-BE49-F238E27FC236}">
                <a16:creationId xmlns:a16="http://schemas.microsoft.com/office/drawing/2014/main" id="{14C0127E-A26E-4079-BCF5-4FF5AD83E146}"/>
              </a:ext>
            </a:extLst>
          </p:cNvPr>
          <p:cNvSpPr/>
          <p:nvPr/>
        </p:nvSpPr>
        <p:spPr>
          <a:xfrm>
            <a:off x="1187918" y="1542522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육각형 30">
            <a:extLst>
              <a:ext uri="{FF2B5EF4-FFF2-40B4-BE49-F238E27FC236}">
                <a16:creationId xmlns:a16="http://schemas.microsoft.com/office/drawing/2014/main" id="{C1B29E0D-1087-4118-89DA-56A025FA802D}"/>
              </a:ext>
            </a:extLst>
          </p:cNvPr>
          <p:cNvSpPr/>
          <p:nvPr/>
        </p:nvSpPr>
        <p:spPr>
          <a:xfrm>
            <a:off x="1323500" y="1523734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6DCFB6-B3CC-47EA-99D6-7AFB1B33ED07}"/>
              </a:ext>
            </a:extLst>
          </p:cNvPr>
          <p:cNvSpPr txBox="1"/>
          <p:nvPr/>
        </p:nvSpPr>
        <p:spPr>
          <a:xfrm>
            <a:off x="3772535" y="1241901"/>
            <a:ext cx="236092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홍대입구역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번 출구 인근 사업장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854F264-B996-4EF5-8ED3-D3FA4BED7453}"/>
              </a:ext>
            </a:extLst>
          </p:cNvPr>
          <p:cNvGrpSpPr/>
          <p:nvPr/>
        </p:nvGrpSpPr>
        <p:grpSpPr>
          <a:xfrm>
            <a:off x="3444234" y="784929"/>
            <a:ext cx="3017533" cy="369812"/>
            <a:chOff x="2323459" y="1248132"/>
            <a:chExt cx="3017533" cy="36981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9DC1874-428B-4C18-AE5E-9C395B10BD5C}"/>
                </a:ext>
              </a:extLst>
            </p:cNvPr>
            <p:cNvSpPr txBox="1"/>
            <p:nvPr/>
          </p:nvSpPr>
          <p:spPr>
            <a:xfrm>
              <a:off x="2756270" y="1340945"/>
              <a:ext cx="258472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우수한 입지의 개발 사업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47" name="Picture 5">
              <a:extLst>
                <a:ext uri="{FF2B5EF4-FFF2-40B4-BE49-F238E27FC236}">
                  <a16:creationId xmlns:a16="http://schemas.microsoft.com/office/drawing/2014/main" id="{40455801-BEB7-416A-A624-A52D9FE33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3459" y="1248132"/>
              <a:ext cx="432811" cy="369332"/>
            </a:xfrm>
            <a:prstGeom prst="rect">
              <a:avLst/>
            </a:prstGeom>
          </p:spPr>
        </p:pic>
      </p:grpSp>
      <p:sp>
        <p:nvSpPr>
          <p:cNvPr id="48" name="육각형 47">
            <a:extLst>
              <a:ext uri="{FF2B5EF4-FFF2-40B4-BE49-F238E27FC236}">
                <a16:creationId xmlns:a16="http://schemas.microsoft.com/office/drawing/2014/main" id="{D96A902C-58D1-4D00-9ADE-A5557F0D0B0B}"/>
              </a:ext>
            </a:extLst>
          </p:cNvPr>
          <p:cNvSpPr/>
          <p:nvPr/>
        </p:nvSpPr>
        <p:spPr>
          <a:xfrm>
            <a:off x="1187918" y="3403317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육각형 48">
            <a:extLst>
              <a:ext uri="{FF2B5EF4-FFF2-40B4-BE49-F238E27FC236}">
                <a16:creationId xmlns:a16="http://schemas.microsoft.com/office/drawing/2014/main" id="{98B31954-C8A0-41F3-BC57-D4C12283BEA4}"/>
              </a:ext>
            </a:extLst>
          </p:cNvPr>
          <p:cNvSpPr/>
          <p:nvPr/>
        </p:nvSpPr>
        <p:spPr>
          <a:xfrm>
            <a:off x="1323500" y="3384529"/>
            <a:ext cx="7258999" cy="1008622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182597-EBD9-4385-B02A-CAFA83488202}"/>
              </a:ext>
            </a:extLst>
          </p:cNvPr>
          <p:cNvSpPr txBox="1"/>
          <p:nvPr/>
        </p:nvSpPr>
        <p:spPr>
          <a:xfrm>
            <a:off x="1614746" y="3670258"/>
            <a:ext cx="633853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국내 최대 </a:t>
            </a: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디벨로퍼인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㈜신영이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100%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출자로 진행 하는 개발 사업</a:t>
            </a: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Equity 1,170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억 원 기 투입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PF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구조에 따라서 추가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Equity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납입 검토 중인 우량 사업장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72D9C5-E87C-41FE-8BEA-B34A5A1CCCC0}"/>
              </a:ext>
            </a:extLst>
          </p:cNvPr>
          <p:cNvSpPr txBox="1"/>
          <p:nvPr/>
        </p:nvSpPr>
        <p:spPr>
          <a:xfrm>
            <a:off x="2712720" y="3033845"/>
            <a:ext cx="448056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차주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: SY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신도시개발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신영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100% </a:t>
            </a:r>
            <a:r>
              <a:rPr lang="ko-KR" altLang="en-US" sz="1400" dirty="0" err="1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출자사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), 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연대보증사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: (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주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신영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시공사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: 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동원건설산업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예정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7012D84-0DD3-463D-AA04-A99E2F95BAB9}"/>
              </a:ext>
            </a:extLst>
          </p:cNvPr>
          <p:cNvGrpSpPr/>
          <p:nvPr/>
        </p:nvGrpSpPr>
        <p:grpSpPr>
          <a:xfrm>
            <a:off x="3444234" y="2592470"/>
            <a:ext cx="3017533" cy="369332"/>
            <a:chOff x="1940735" y="2964123"/>
            <a:chExt cx="3017533" cy="3693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87042EC-6C87-4456-8C3C-59C6CDB031AE}"/>
                </a:ext>
              </a:extLst>
            </p:cNvPr>
            <p:cNvSpPr txBox="1"/>
            <p:nvPr/>
          </p:nvSpPr>
          <p:spPr>
            <a:xfrm>
              <a:off x="2373546" y="3038294"/>
              <a:ext cx="258472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우량 시행 </a:t>
              </a:r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/ </a:t>
              </a:r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시공업체 사업장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54" name="Picture 5">
              <a:extLst>
                <a:ext uri="{FF2B5EF4-FFF2-40B4-BE49-F238E27FC236}">
                  <a16:creationId xmlns:a16="http://schemas.microsoft.com/office/drawing/2014/main" id="{8F056911-6877-462A-AF12-9301918D1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0735" y="2964123"/>
              <a:ext cx="432811" cy="369332"/>
            </a:xfrm>
            <a:prstGeom prst="rect">
              <a:avLst/>
            </a:prstGeom>
          </p:spPr>
        </p:pic>
      </p:grpSp>
      <p:sp>
        <p:nvSpPr>
          <p:cNvPr id="55" name="육각형 54">
            <a:extLst>
              <a:ext uri="{FF2B5EF4-FFF2-40B4-BE49-F238E27FC236}">
                <a16:creationId xmlns:a16="http://schemas.microsoft.com/office/drawing/2014/main" id="{4307F882-37A5-4C81-98D4-14C0D1C82C2B}"/>
              </a:ext>
            </a:extLst>
          </p:cNvPr>
          <p:cNvSpPr/>
          <p:nvPr/>
        </p:nvSpPr>
        <p:spPr>
          <a:xfrm>
            <a:off x="1187918" y="5102027"/>
            <a:ext cx="7530164" cy="971045"/>
          </a:xfrm>
          <a:prstGeom prst="hexagon">
            <a:avLst>
              <a:gd name="adj" fmla="val 18529"/>
              <a:gd name="vf" fmla="val 115470"/>
            </a:avLst>
          </a:prstGeom>
          <a:solidFill>
            <a:srgbClr val="2E75B6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육각형 55">
            <a:extLst>
              <a:ext uri="{FF2B5EF4-FFF2-40B4-BE49-F238E27FC236}">
                <a16:creationId xmlns:a16="http://schemas.microsoft.com/office/drawing/2014/main" id="{C8138F0A-7808-4797-AF97-5D44A8947A08}"/>
              </a:ext>
            </a:extLst>
          </p:cNvPr>
          <p:cNvSpPr/>
          <p:nvPr/>
        </p:nvSpPr>
        <p:spPr>
          <a:xfrm>
            <a:off x="1323500" y="5083240"/>
            <a:ext cx="7258999" cy="1008620"/>
          </a:xfrm>
          <a:prstGeom prst="hexagon">
            <a:avLst>
              <a:gd name="adj" fmla="val 18529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B5F326-924B-467C-B0BE-00CD4BBB220C}"/>
              </a:ext>
            </a:extLst>
          </p:cNvPr>
          <p:cNvSpPr txBox="1"/>
          <p:nvPr/>
        </p:nvSpPr>
        <p:spPr>
          <a:xfrm>
            <a:off x="1640103" y="5280487"/>
            <a:ext cx="6560559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2021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08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토지계약 하여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중도금 및 잔금 납부로 부지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100%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확보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건축허가 완료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(25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8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변경 허가 완료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 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도급계약 완료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(26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21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일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동원건설산업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만기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2027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년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3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월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28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일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예정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로 잔존 만기 약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12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4B8AB3-04E7-46F6-B972-90B9EB9DCB58}"/>
              </a:ext>
            </a:extLst>
          </p:cNvPr>
          <p:cNvSpPr txBox="1"/>
          <p:nvPr/>
        </p:nvSpPr>
        <p:spPr>
          <a:xfrm>
            <a:off x="2078728" y="4893594"/>
            <a:ext cx="5748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약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12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개월의 짧은 잔존 만기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건축허가 완료 </a:t>
            </a:r>
            <a:r>
              <a:rPr lang="en-US" altLang="ko-KR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/ </a:t>
            </a:r>
            <a:r>
              <a:rPr lang="ko-KR" altLang="en-US" sz="1400" dirty="0">
                <a:solidFill>
                  <a:schemeClr val="accent5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철거 완료</a:t>
            </a:r>
            <a:endParaRPr lang="en-US" altLang="ko-KR" sz="1400" dirty="0">
              <a:solidFill>
                <a:schemeClr val="accent5"/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FB73DBC-F907-40BA-8BDE-16FA97D6C374}"/>
              </a:ext>
            </a:extLst>
          </p:cNvPr>
          <p:cNvGrpSpPr/>
          <p:nvPr/>
        </p:nvGrpSpPr>
        <p:grpSpPr>
          <a:xfrm>
            <a:off x="3444234" y="4443304"/>
            <a:ext cx="3017533" cy="369332"/>
            <a:chOff x="1940735" y="4619440"/>
            <a:chExt cx="3017533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CD98CEA-9019-4D6A-BA51-3B21243D3D98}"/>
                </a:ext>
              </a:extLst>
            </p:cNvPr>
            <p:cNvSpPr txBox="1"/>
            <p:nvPr/>
          </p:nvSpPr>
          <p:spPr>
            <a:xfrm>
              <a:off x="2373546" y="4693611"/>
              <a:ext cx="2584722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짧은 잔존 만기 </a:t>
              </a:r>
              <a:r>
                <a:rPr lang="en-US" altLang="ko-KR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/ </a:t>
              </a:r>
              <a:r>
                <a:rPr lang="ko-KR" altLang="en-US" dirty="0">
                  <a:latin typeface="피플폰트 Bold" panose="020B0600000101010101" pitchFamily="50" charset="-127"/>
                  <a:ea typeface="피플폰트 Bold" panose="020B0600000101010101" pitchFamily="50" charset="-127"/>
                </a:rPr>
                <a:t>인허가 완료</a:t>
              </a:r>
              <a:endParaRPr lang="en-US" altLang="ko-KR" dirty="0">
                <a:latin typeface="피플폰트 Bold" panose="020B0600000101010101" pitchFamily="50" charset="-127"/>
                <a:ea typeface="피플폰트 Bold" panose="020B0600000101010101" pitchFamily="50" charset="-127"/>
              </a:endParaRPr>
            </a:p>
          </p:txBody>
        </p:sp>
        <p:pic>
          <p:nvPicPr>
            <p:cNvPr id="61" name="Picture 5">
              <a:extLst>
                <a:ext uri="{FF2B5EF4-FFF2-40B4-BE49-F238E27FC236}">
                  <a16:creationId xmlns:a16="http://schemas.microsoft.com/office/drawing/2014/main" id="{CD9F1F04-CA07-4175-9969-46FC1B058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40735" y="4619440"/>
              <a:ext cx="432811" cy="369332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BE5A4E9-80DA-4692-B715-A813E38A7C5E}"/>
              </a:ext>
            </a:extLst>
          </p:cNvPr>
          <p:cNvSpPr txBox="1"/>
          <p:nvPr/>
        </p:nvSpPr>
        <p:spPr>
          <a:xfrm>
            <a:off x="1641638" y="1830856"/>
            <a:ext cx="674383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홍대입구역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2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번 출구에서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50M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도보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5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분내 접근 가능한 위치에서 진행하는 개발 사업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  <a:p>
            <a:pPr marL="285750" indent="-285750">
              <a:buFont typeface="Batang" panose="02030600000101010101" pitchFamily="18" charset="-127"/>
              <a:buChar char="→"/>
            </a:pPr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트리플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 역세권과 대학교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경의선 숲길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연남동의 주요 상권에 인접한 입지로 풍부한 배후 수요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97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DDFA0B72-8A49-41C6-868A-9EA484D4F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8906" t="-6013" r="-18360" b="-2212"/>
          <a:stretch/>
        </p:blipFill>
        <p:spPr>
          <a:xfrm>
            <a:off x="224599" y="4998141"/>
            <a:ext cx="4478029" cy="16566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15C6F44-6AA2-4FB6-82BB-DF652FEF5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55774"/>
              </p:ext>
            </p:extLst>
          </p:nvPr>
        </p:nvGraphicFramePr>
        <p:xfrm>
          <a:off x="224599" y="2551320"/>
          <a:ext cx="4478029" cy="2188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9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5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금융구조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부동산담보대출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5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차주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SY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신도시개발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098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대출금액 및 </a:t>
                      </a: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조건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latinLnBrk="1"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latinLnBrk="1">
                        <a:defRPr/>
                      </a:pPr>
                      <a:endParaRPr lang="en-US" altLang="ko-KR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※ LTV :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대일감정평가법인 감정평가금액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2,770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억원 기준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피플폰트 Light" panose="020B0600000101010101" pitchFamily="50" charset="-127"/>
                          <a:ea typeface="피플폰트 Light" panose="020B0600000101010101" pitchFamily="50" charset="-127"/>
                        </a:rPr>
                        <a:t>(’26.02.)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피플폰트 Light" panose="020B0600000101010101" pitchFamily="50" charset="-127"/>
                        <a:ea typeface="피플폰트 Light" panose="020B0600000101010101" pitchFamily="50" charset="-127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채권보전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부동산담보신탁 </a:t>
                      </a:r>
                      <a:r>
                        <a:rPr lang="en-US" altLang="ko-KR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순위 우선수익권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설정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대출약정금의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130%)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본건 대출원리금에 대한 </a:t>
                      </a:r>
                      <a:r>
                        <a:rPr lang="ko-KR" altLang="en-US" sz="900" b="1" u="sng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㈜신영의 연대보증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차주 주식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순위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근질권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설정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대출약정금의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130%)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차주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시행권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포기각서 제출</a:t>
                      </a:r>
                    </a:p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최초인출일 직전 영업일까지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개월분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이자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유보ㄹ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55501"/>
                  </a:ext>
                </a:extLst>
              </a:tr>
              <a:tr h="15245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대출기간</a:t>
                      </a: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 인출일로부터 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12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개월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(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만기 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2026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년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3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월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28</a:t>
                      </a:r>
                      <a:r>
                        <a:rPr lang="ko-KR" alt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일</a:t>
                      </a:r>
                      <a:r>
                        <a:rPr lang="en-US" sz="900" b="0" u="sng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u="sng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33513" marR="33513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36B378D-DD39-40E2-B74B-D0C51F102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5266"/>
              </p:ext>
            </p:extLst>
          </p:nvPr>
        </p:nvGraphicFramePr>
        <p:xfrm>
          <a:off x="1023163" y="2929633"/>
          <a:ext cx="3577411" cy="484128"/>
        </p:xfrm>
        <a:graphic>
          <a:graphicData uri="http://schemas.openxmlformats.org/drawingml/2006/table">
            <a:tbl>
              <a:tblPr firstRow="1" bandRow="1">
                <a:effectLst>
                  <a:outerShdw blurRad="127000" sx="101000" sy="101000" algn="ctr" rotWithShape="0">
                    <a:prstClr val="black">
                      <a:alpha val="20000"/>
                    </a:prstClr>
                  </a:outerShdw>
                </a:effectLst>
                <a:tableStyleId>{5C22544A-7EE6-4342-B048-85BDC9FD1C3A}</a:tableStyleId>
              </a:tblPr>
              <a:tblGrid>
                <a:gridCol w="964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44">
                  <a:extLst>
                    <a:ext uri="{9D8B030D-6E8A-4147-A177-3AD203B41FA5}">
                      <a16:colId xmlns:a16="http://schemas.microsoft.com/office/drawing/2014/main" val="1942631606"/>
                    </a:ext>
                  </a:extLst>
                </a:gridCol>
              </a:tblGrid>
              <a:tr h="1613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Tr.A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Tr.B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본건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3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대출금액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[ 1,200 ]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억원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[ 250 ]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억원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771107"/>
                  </a:ext>
                </a:extLst>
              </a:tr>
              <a:tr h="1613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LTV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[ 43.32 ]%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[ 52.34 ]%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46026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067509E-93BA-42CE-AB59-E2E44442D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2861"/>
              </p:ext>
            </p:extLst>
          </p:nvPr>
        </p:nvGraphicFramePr>
        <p:xfrm>
          <a:off x="4828883" y="5217692"/>
          <a:ext cx="4852516" cy="1437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150">
                  <a:extLst>
                    <a:ext uri="{9D8B030D-6E8A-4147-A177-3AD203B41FA5}">
                      <a16:colId xmlns:a16="http://schemas.microsoft.com/office/drawing/2014/main" val="2540065300"/>
                    </a:ext>
                  </a:extLst>
                </a:gridCol>
                <a:gridCol w="1101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716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903685">
                  <a:extLst>
                    <a:ext uri="{9D8B030D-6E8A-4147-A177-3AD203B41FA5}">
                      <a16:colId xmlns:a16="http://schemas.microsoft.com/office/drawing/2014/main" val="2542008248"/>
                    </a:ext>
                  </a:extLst>
                </a:gridCol>
              </a:tblGrid>
              <a:tr h="301113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구분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단위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백만 원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2025. 12(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가결산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2024.12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2023.12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2022.12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자산총계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1,724,107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1,720,571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1,226,530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1,237,760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95979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부채총계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1,058,862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1,124,716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933,932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897,337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017971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자본총계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665,244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595,856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292,598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340,424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979982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자본금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11,352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11,352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10,000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10,000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71124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매출액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216,260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367,707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261,514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85,791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140566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영업이익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60,350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59,743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19,936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(21,044)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70694"/>
                  </a:ext>
                </a:extLst>
              </a:tr>
              <a:tr h="1609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당기순이익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69,801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239,917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(44,153)</a:t>
                      </a:r>
                      <a:endParaRPr lang="ko-KR" altLang="en-US" sz="900" b="0" kern="120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(44,353)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7975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5E0AC8A-44A9-4ACF-B1EB-84CFB0706006}"/>
              </a:ext>
            </a:extLst>
          </p:cNvPr>
          <p:cNvSpPr txBox="1"/>
          <p:nvPr/>
        </p:nvSpPr>
        <p:spPr>
          <a:xfrm>
            <a:off x="4828883" y="5002248"/>
            <a:ext cx="2233075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연대보증사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주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신영 주요 재무제표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E9B8-4F28-4A3D-8A01-6291D6241A1C}"/>
              </a:ext>
            </a:extLst>
          </p:cNvPr>
          <p:cNvSpPr txBox="1"/>
          <p:nvPr/>
        </p:nvSpPr>
        <p:spPr>
          <a:xfrm>
            <a:off x="4828883" y="3791403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연대보증사 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(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주</a:t>
            </a:r>
            <a:r>
              <a:rPr lang="en-US" altLang="ko-KR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)</a:t>
            </a: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신영 법인개요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06F02C3-0860-4D33-852E-E8E237857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97604"/>
              </p:ext>
            </p:extLst>
          </p:nvPr>
        </p:nvGraphicFramePr>
        <p:xfrm>
          <a:off x="4813302" y="3992365"/>
          <a:ext cx="4868099" cy="97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1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621">
                  <a:extLst>
                    <a:ext uri="{9D8B030D-6E8A-4147-A177-3AD203B41FA5}">
                      <a16:colId xmlns:a16="http://schemas.microsoft.com/office/drawing/2014/main" val="1335951591"/>
                    </a:ext>
                  </a:extLst>
                </a:gridCol>
                <a:gridCol w="1492705">
                  <a:extLst>
                    <a:ext uri="{9D8B030D-6E8A-4147-A177-3AD203B41FA5}">
                      <a16:colId xmlns:a16="http://schemas.microsoft.com/office/drawing/2014/main" val="790720722"/>
                    </a:ext>
                  </a:extLst>
                </a:gridCol>
              </a:tblGrid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회사명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㈜신영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사업자번호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120-81-52188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설립일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1989.03.23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법인등록번호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110111-0618178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대표자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손종구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자본금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11,352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백만원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644157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본점소재지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서울시 강남구 영동대로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517, 1401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호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삼성동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주요사업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부동산업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주택신축업 등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389435"/>
                  </a:ext>
                </a:extLst>
              </a:tr>
              <a:tr h="16192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주요주주</a:t>
                      </a: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정춘보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(85.43%),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정무경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(14.57%)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62865" marR="6286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375962"/>
                  </a:ext>
                </a:extLst>
              </a:tr>
            </a:tbl>
          </a:graphicData>
        </a:graphic>
      </p:graphicFrame>
      <p:graphicFrame>
        <p:nvGraphicFramePr>
          <p:cNvPr id="18" name="표 16">
            <a:extLst>
              <a:ext uri="{FF2B5EF4-FFF2-40B4-BE49-F238E27FC236}">
                <a16:creationId xmlns:a16="http://schemas.microsoft.com/office/drawing/2014/main" id="{4F870127-2CDB-43B1-AD7F-FE47CC8C2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27337"/>
              </p:ext>
            </p:extLst>
          </p:nvPr>
        </p:nvGraphicFramePr>
        <p:xfrm>
          <a:off x="224600" y="360203"/>
          <a:ext cx="4478029" cy="1944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사모사채명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제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회 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사채 유형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국내 전자등록 또는 실물 발행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무기명식 무보증 사모사채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발행인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TBD(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신규 유동화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SPC)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기초자산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서울특별시 마포구 동교동 주상복합 신축사업 후순위 담보대출채권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발행금액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억원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₩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6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,000,000,000 )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발행일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2026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 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30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만기일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2027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년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03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28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일 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잔존만기 기준 투자기간 약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12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금융조건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채권 금리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: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연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 [ 7.00 ]% 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고정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 err="1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세전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rgbClr val="FF0000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49041"/>
                  </a:ext>
                </a:extLst>
              </a:tr>
              <a:tr h="216094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이자지급주기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-342900" algn="l" defTabSz="914400" rtl="0" eaLnBrk="1" latinLnBrk="1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[3]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개월 단위 후취 또는 전액 후취</a:t>
                      </a:r>
                    </a:p>
                  </a:txBody>
                  <a:tcPr marL="51192" marR="51192" marT="71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1565"/>
                  </a:ext>
                </a:extLst>
              </a:tr>
            </a:tbl>
          </a:graphicData>
        </a:graphic>
      </p:graphicFrame>
      <p:pic>
        <p:nvPicPr>
          <p:cNvPr id="21" name="그림 20">
            <a:extLst>
              <a:ext uri="{FF2B5EF4-FFF2-40B4-BE49-F238E27FC236}">
                <a16:creationId xmlns:a16="http://schemas.microsoft.com/office/drawing/2014/main" id="{EA107C45-0DFB-4E1E-90F0-48265B95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00" y="203200"/>
            <a:ext cx="1504188" cy="10795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BDFE1491-F180-4DEA-8A15-4CBB9F4492CD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7D79E57-FB84-4BD1-9573-FB8A8698DAD7}"/>
              </a:ext>
            </a:extLst>
          </p:cNvPr>
          <p:cNvGrpSpPr/>
          <p:nvPr/>
        </p:nvGrpSpPr>
        <p:grpSpPr>
          <a:xfrm>
            <a:off x="4813302" y="360203"/>
            <a:ext cx="4868097" cy="1697355"/>
            <a:chOff x="224599" y="4442011"/>
            <a:chExt cx="4478030" cy="18635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20C1769-B066-48A2-BA23-9720C98F08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8722"/>
            <a:stretch/>
          </p:blipFill>
          <p:spPr>
            <a:xfrm>
              <a:off x="2354189" y="4442011"/>
              <a:ext cx="2348440" cy="1863539"/>
            </a:xfrm>
            <a:prstGeom prst="rect">
              <a:avLst/>
            </a:prstGeom>
          </p:spPr>
        </p:pic>
        <p:pic>
          <p:nvPicPr>
            <p:cNvPr id="19" name="docshape88">
              <a:extLst>
                <a:ext uri="{FF2B5EF4-FFF2-40B4-BE49-F238E27FC236}">
                  <a16:creationId xmlns:a16="http://schemas.microsoft.com/office/drawing/2014/main" id="{F40ADA0B-5FB4-4D4F-965C-E3A4EC54C120}"/>
                </a:ext>
              </a:extLst>
            </p:cNvPr>
            <p:cNvPicPr/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3" t="12315" r="-238" b="12911"/>
            <a:stretch/>
          </p:blipFill>
          <p:spPr bwMode="auto">
            <a:xfrm>
              <a:off x="224599" y="4442011"/>
              <a:ext cx="2084718" cy="18635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9CC93D6-D79C-456D-B8BC-8900A9284217}"/>
              </a:ext>
            </a:extLst>
          </p:cNvPr>
          <p:cNvSpPr txBox="1"/>
          <p:nvPr/>
        </p:nvSpPr>
        <p:spPr>
          <a:xfrm>
            <a:off x="242948" y="2350265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기조자산 담보대출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7E9328-1AB9-452A-95B4-720D93E16ABF}"/>
              </a:ext>
            </a:extLst>
          </p:cNvPr>
          <p:cNvSpPr txBox="1"/>
          <p:nvPr/>
        </p:nvSpPr>
        <p:spPr>
          <a:xfrm>
            <a:off x="242948" y="4767309"/>
            <a:ext cx="1467491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금융구조도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7FF97CA-23F8-46CD-9314-81F6F7A00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969547"/>
              </p:ext>
            </p:extLst>
          </p:nvPr>
        </p:nvGraphicFramePr>
        <p:xfrm>
          <a:off x="4813303" y="2268161"/>
          <a:ext cx="486809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4603">
                  <a:extLst>
                    <a:ext uri="{9D8B030D-6E8A-4147-A177-3AD203B41FA5}">
                      <a16:colId xmlns:a16="http://schemas.microsoft.com/office/drawing/2014/main" val="367595970"/>
                    </a:ext>
                  </a:extLst>
                </a:gridCol>
              </a:tblGrid>
              <a:tr h="164046">
                <a:tc rowSpan="7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’22.09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건축허가 접수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’22.10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기존 건축물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(KT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신촌지사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해체 완료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’22.12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지구단위계획 변경 결정고시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’23.02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최초 건축허가 득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105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’24.01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변경 건축허가 득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(1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평면 수정</a:t>
                      </a: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’25.08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변경 건축허가 득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(3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차 오피스텔 부분 발코니 창호 설치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825"/>
                  </a:ext>
                </a:extLst>
              </a:tr>
              <a:tr h="16404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’26.01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도급계약 체결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동원건설산업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 2026.01.21)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984039"/>
                  </a:ext>
                </a:extLst>
              </a:tr>
              <a:tr h="1640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50" b="0" kern="1200" dirty="0">
                          <a:solidFill>
                            <a:schemeClr val="tx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  <a:cs typeface="+mn-cs"/>
                        </a:rPr>
                        <a:t>예정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’26.4Q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latinLnBrk="1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PF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대출 및 착공 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본 건 상환</a:t>
                      </a:r>
                      <a:r>
                        <a:rPr lang="en-US" altLang="ko-KR" sz="900" b="0" kern="1200" dirty="0">
                          <a:solidFill>
                            <a:schemeClr val="tx1"/>
                          </a:solidFill>
                          <a:latin typeface="피플폰트 Light" panose="020B0600000101010101" charset="-127"/>
                          <a:ea typeface="피플폰트 Light" panose="020B0600000101010101" charset="-127"/>
                          <a:cs typeface="+mn-cs"/>
                        </a:rPr>
                        <a:t>)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피플폰트 Light" panose="020B0600000101010101" charset="-127"/>
                        <a:ea typeface="피플폰트 Light" panose="020B0600000101010101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58299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055B9265-5AAB-4BA5-8646-EFF3B7873086}"/>
              </a:ext>
            </a:extLst>
          </p:cNvPr>
          <p:cNvSpPr txBox="1"/>
          <p:nvPr/>
        </p:nvSpPr>
        <p:spPr>
          <a:xfrm>
            <a:off x="4828883" y="2062267"/>
            <a:ext cx="1806643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/>
            </a:pPr>
            <a:r>
              <a:rPr lang="ko-KR" altLang="en-US" sz="9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사업일정</a:t>
            </a:r>
            <a:endParaRPr lang="ko-KR" altLang="en-US" sz="800" dirty="0"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590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7EB92DB-D6D6-40B6-BFC1-994521FC85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80" t="17953" r="15204" b="17142"/>
          <a:stretch/>
        </p:blipFill>
        <p:spPr>
          <a:xfrm>
            <a:off x="2556932" y="351616"/>
            <a:ext cx="4775201" cy="437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74E7A9-78B0-4588-8C1D-6DE1105B6923}"/>
              </a:ext>
            </a:extLst>
          </p:cNvPr>
          <p:cNvSpPr txBox="1"/>
          <p:nvPr/>
        </p:nvSpPr>
        <p:spPr>
          <a:xfrm>
            <a:off x="3543300" y="6311054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rPr>
              <a:t>End of Document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피플폰트 Bold" panose="020B0600000101010101" pitchFamily="50" charset="-127"/>
              <a:ea typeface="피플폰트 Bold" panose="020B0600000101010101" pitchFamily="50" charset="-127"/>
            </a:endParaRPr>
          </a:p>
        </p:txBody>
      </p:sp>
      <p:sp>
        <p:nvSpPr>
          <p:cNvPr id="8" name="액자 7">
            <a:extLst>
              <a:ext uri="{FF2B5EF4-FFF2-40B4-BE49-F238E27FC236}">
                <a16:creationId xmlns:a16="http://schemas.microsoft.com/office/drawing/2014/main" id="{47D09B23-F7CF-41E4-B38F-5F6F55C039C7}"/>
              </a:ext>
            </a:extLst>
          </p:cNvPr>
          <p:cNvSpPr/>
          <p:nvPr/>
        </p:nvSpPr>
        <p:spPr>
          <a:xfrm>
            <a:off x="108858" y="113933"/>
            <a:ext cx="9673771" cy="6630135"/>
          </a:xfrm>
          <a:prstGeom prst="frame">
            <a:avLst>
              <a:gd name="adj1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D6916-6366-4BAC-A420-78CFB3961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085" y="4966567"/>
            <a:ext cx="64321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19118" indent="-219118">
              <a:defRPr/>
            </a:pPr>
            <a:r>
              <a:rPr lang="ko-KR" altLang="en-US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본 자료와 관련하여 문의사항이 있으실 경우 아래의 담당자에게 언제든지 연락하여 주시면 성심껏 답변하여 드리겠습니다</a:t>
            </a:r>
            <a:r>
              <a:rPr lang="en-US" altLang="ko-KR" sz="1000" b="1" kern="0" dirty="0">
                <a:solidFill>
                  <a:sysClr val="windowText" lastClr="000000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  <a:cs typeface="Arial" pitchFamily="34" charset="0"/>
              </a:rPr>
              <a:t>.</a:t>
            </a:r>
            <a:endParaRPr lang="ko-KR" altLang="en-US" sz="1000" b="1" kern="0" dirty="0">
              <a:solidFill>
                <a:sysClr val="windowText" lastClr="000000"/>
              </a:solidFill>
              <a:latin typeface="피플폰트 Bold" panose="020B0600000101010101" pitchFamily="50" charset="-127"/>
              <a:ea typeface="피플폰트 Bold" panose="020B0600000101010101" pitchFamily="50" charset="-127"/>
              <a:cs typeface="Arial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A5CB35A-6CD0-4565-AF06-70C2227D36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6085" y="5212788"/>
          <a:ext cx="7473830" cy="1054824"/>
        </p:xfrm>
        <a:graphic>
          <a:graphicData uri="http://schemas.openxmlformats.org/drawingml/2006/table">
            <a:tbl>
              <a:tblPr firstRow="1" bandRow="1"/>
              <a:tblGrid>
                <a:gridCol w="1109804">
                  <a:extLst>
                    <a:ext uri="{9D8B030D-6E8A-4147-A177-3AD203B41FA5}">
                      <a16:colId xmlns:a16="http://schemas.microsoft.com/office/drawing/2014/main" val="3489200769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3330462320"/>
                    </a:ext>
                  </a:extLst>
                </a:gridCol>
                <a:gridCol w="1109804">
                  <a:extLst>
                    <a:ext uri="{9D8B030D-6E8A-4147-A177-3AD203B41FA5}">
                      <a16:colId xmlns:a16="http://schemas.microsoft.com/office/drawing/2014/main" val="1890356954"/>
                    </a:ext>
                  </a:extLst>
                </a:gridCol>
                <a:gridCol w="2516412">
                  <a:extLst>
                    <a:ext uri="{9D8B030D-6E8A-4147-A177-3AD203B41FA5}">
                      <a16:colId xmlns:a16="http://schemas.microsoft.com/office/drawing/2014/main" val="4272298019"/>
                    </a:ext>
                  </a:extLst>
                </a:gridCol>
                <a:gridCol w="1628006">
                  <a:extLst>
                    <a:ext uri="{9D8B030D-6E8A-4147-A177-3AD203B41FA5}">
                      <a16:colId xmlns:a16="http://schemas.microsoft.com/office/drawing/2014/main" val="2375832908"/>
                    </a:ext>
                  </a:extLst>
                </a:gridCol>
              </a:tblGrid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직급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이름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E-mail</a:t>
                      </a:r>
                      <a:endParaRPr lang="ko-KR" altLang="en-US" sz="1050" dirty="0">
                        <a:solidFill>
                          <a:schemeClr val="bg1"/>
                        </a:solidFill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solidFill>
                            <a:schemeClr val="bg1"/>
                          </a:solidFill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연락처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27196"/>
                  </a:ext>
                </a:extLst>
              </a:tr>
              <a:tr h="2637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대표이사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박광희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pkh@rainfieldinv.com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010-4490-2050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478623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투자금융본부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최재영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cjy@rainfieldinv.com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010-3090-3576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69950"/>
                  </a:ext>
                </a:extLst>
              </a:tr>
              <a:tr h="2637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대체투자본부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팀장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이주호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ljh@rainfieldinv.com</a:t>
                      </a: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피플폰트 Bold" panose="020B0600000101010101" pitchFamily="50" charset="-127"/>
                          <a:ea typeface="피플폰트 Bold" panose="020B0600000101010101" pitchFamily="50" charset="-127"/>
                        </a:rPr>
                        <a:t>010-5054-9208</a:t>
                      </a:r>
                      <a:endParaRPr lang="ko-KR" altLang="en-US" sz="1050" dirty="0">
                        <a:latin typeface="피플폰트 Bold" panose="020B0600000101010101" pitchFamily="50" charset="-127"/>
                        <a:ea typeface="피플폰트 Bold" panose="020B0600000101010101" pitchFamily="50" charset="-127"/>
                      </a:endParaRPr>
                    </a:p>
                  </a:txBody>
                  <a:tcPr marL="63305" marR="63305" marT="31652" marB="31652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4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827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623</TotalTime>
  <Words>602</Words>
  <Application>Microsoft Office PowerPoint</Application>
  <PresentationFormat>A4 용지(210x297mm)</PresentationFormat>
  <Paragraphs>166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맑은 고딕</vt:lpstr>
      <vt:lpstr>바탕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레인필드투자자문</dc:creator>
  <cp:lastModifiedBy>레인필드투자자문</cp:lastModifiedBy>
  <cp:revision>68</cp:revision>
  <dcterms:created xsi:type="dcterms:W3CDTF">2026-02-10T06:23:32Z</dcterms:created>
  <dcterms:modified xsi:type="dcterms:W3CDTF">2026-02-25T22:18:07Z</dcterms:modified>
</cp:coreProperties>
</file>